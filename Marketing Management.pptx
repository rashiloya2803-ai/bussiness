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0" r:id="rId14"/>
    <p:sldId id="268" r:id="rId15"/>
    <p:sldId id="269" r:id="rId16"/>
    <p:sldId id="270" r:id="rId17"/>
    <p:sldId id="271" r:id="rId18"/>
    <p:sldId id="272" r:id="rId19"/>
    <p:sldId id="273" r:id="rId20"/>
    <p:sldId id="274" r:id="rId21"/>
    <p:sldId id="275" r:id="rId22"/>
    <p:sldId id="276" r:id="rId23"/>
    <p:sldId id="277" r:id="rId24"/>
    <p:sldId id="278" r:id="rId25"/>
    <p:sldId id="281" r:id="rId26"/>
    <p:sldId id="282" r:id="rId27"/>
    <p:sldId id="2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64" d="100"/>
          <a:sy n="64" d="100"/>
        </p:scale>
        <p:origin x="712" y="3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B6977-AC16-4376-8034-C49301104A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1322F9-B4B0-4ADE-86B0-96BF61353A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B1F7921-3792-4CDF-9E9A-10B4953C6216}"/>
              </a:ext>
            </a:extLst>
          </p:cNvPr>
          <p:cNvSpPr>
            <a:spLocks noGrp="1"/>
          </p:cNvSpPr>
          <p:nvPr>
            <p:ph type="dt" sz="half" idx="10"/>
          </p:nvPr>
        </p:nvSpPr>
        <p:spPr/>
        <p:txBody>
          <a:bodyPr/>
          <a:lstStyle/>
          <a:p>
            <a:fld id="{B7A3FC48-516D-4F1E-905E-CD540E9CCD4B}" type="datetimeFigureOut">
              <a:rPr lang="en-US" smtClean="0"/>
              <a:t>11/4/2025</a:t>
            </a:fld>
            <a:endParaRPr lang="en-US"/>
          </a:p>
        </p:txBody>
      </p:sp>
      <p:sp>
        <p:nvSpPr>
          <p:cNvPr id="5" name="Footer Placeholder 4">
            <a:extLst>
              <a:ext uri="{FF2B5EF4-FFF2-40B4-BE49-F238E27FC236}">
                <a16:creationId xmlns:a16="http://schemas.microsoft.com/office/drawing/2014/main" id="{9A076455-ADF2-492E-9F75-7537291A5F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E693A0-E2AC-4AAF-B688-A3459788970C}"/>
              </a:ext>
            </a:extLst>
          </p:cNvPr>
          <p:cNvSpPr>
            <a:spLocks noGrp="1"/>
          </p:cNvSpPr>
          <p:nvPr>
            <p:ph type="sldNum" sz="quarter" idx="12"/>
          </p:nvPr>
        </p:nvSpPr>
        <p:spPr/>
        <p:txBody>
          <a:bodyPr/>
          <a:lstStyle/>
          <a:p>
            <a:fld id="{FE3CBA01-BCFF-4408-80FF-B05C18D7EA44}" type="slidenum">
              <a:rPr lang="en-US" smtClean="0"/>
              <a:t>‹#›</a:t>
            </a:fld>
            <a:endParaRPr lang="en-US"/>
          </a:p>
        </p:txBody>
      </p:sp>
    </p:spTree>
    <p:extLst>
      <p:ext uri="{BB962C8B-B14F-4D97-AF65-F5344CB8AC3E}">
        <p14:creationId xmlns:p14="http://schemas.microsoft.com/office/powerpoint/2010/main" val="4050151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7E2CF-6267-49DC-A664-659026B142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A75CBE-2353-4ECE-8FD5-5411B02E24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6EA6A5-020C-4458-8F38-61E9688C4961}"/>
              </a:ext>
            </a:extLst>
          </p:cNvPr>
          <p:cNvSpPr>
            <a:spLocks noGrp="1"/>
          </p:cNvSpPr>
          <p:nvPr>
            <p:ph type="dt" sz="half" idx="10"/>
          </p:nvPr>
        </p:nvSpPr>
        <p:spPr/>
        <p:txBody>
          <a:bodyPr/>
          <a:lstStyle/>
          <a:p>
            <a:fld id="{B7A3FC48-516D-4F1E-905E-CD540E9CCD4B}" type="datetimeFigureOut">
              <a:rPr lang="en-US" smtClean="0"/>
              <a:t>11/4/2025</a:t>
            </a:fld>
            <a:endParaRPr lang="en-US"/>
          </a:p>
        </p:txBody>
      </p:sp>
      <p:sp>
        <p:nvSpPr>
          <p:cNvPr id="5" name="Footer Placeholder 4">
            <a:extLst>
              <a:ext uri="{FF2B5EF4-FFF2-40B4-BE49-F238E27FC236}">
                <a16:creationId xmlns:a16="http://schemas.microsoft.com/office/drawing/2014/main" id="{9D2DC1D3-2C75-417D-86B4-1A32F8BE29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894EBA-A221-4527-8ECB-89A3869A9F2D}"/>
              </a:ext>
            </a:extLst>
          </p:cNvPr>
          <p:cNvSpPr>
            <a:spLocks noGrp="1"/>
          </p:cNvSpPr>
          <p:nvPr>
            <p:ph type="sldNum" sz="quarter" idx="12"/>
          </p:nvPr>
        </p:nvSpPr>
        <p:spPr/>
        <p:txBody>
          <a:bodyPr/>
          <a:lstStyle/>
          <a:p>
            <a:fld id="{FE3CBA01-BCFF-4408-80FF-B05C18D7EA44}" type="slidenum">
              <a:rPr lang="en-US" smtClean="0"/>
              <a:t>‹#›</a:t>
            </a:fld>
            <a:endParaRPr lang="en-US"/>
          </a:p>
        </p:txBody>
      </p:sp>
    </p:spTree>
    <p:extLst>
      <p:ext uri="{BB962C8B-B14F-4D97-AF65-F5344CB8AC3E}">
        <p14:creationId xmlns:p14="http://schemas.microsoft.com/office/powerpoint/2010/main" val="1109084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823B7-E162-4D91-8EA1-B79A8AAFFE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E94583-31AA-4122-8900-74CBA3FB89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DDC776-F68A-48A9-8DAB-69904C9CD8E3}"/>
              </a:ext>
            </a:extLst>
          </p:cNvPr>
          <p:cNvSpPr>
            <a:spLocks noGrp="1"/>
          </p:cNvSpPr>
          <p:nvPr>
            <p:ph type="dt" sz="half" idx="10"/>
          </p:nvPr>
        </p:nvSpPr>
        <p:spPr/>
        <p:txBody>
          <a:bodyPr/>
          <a:lstStyle/>
          <a:p>
            <a:fld id="{B7A3FC48-516D-4F1E-905E-CD540E9CCD4B}" type="datetimeFigureOut">
              <a:rPr lang="en-US" smtClean="0"/>
              <a:t>11/4/2025</a:t>
            </a:fld>
            <a:endParaRPr lang="en-US"/>
          </a:p>
        </p:txBody>
      </p:sp>
      <p:sp>
        <p:nvSpPr>
          <p:cNvPr id="5" name="Footer Placeholder 4">
            <a:extLst>
              <a:ext uri="{FF2B5EF4-FFF2-40B4-BE49-F238E27FC236}">
                <a16:creationId xmlns:a16="http://schemas.microsoft.com/office/drawing/2014/main" id="{3A806BD3-EC92-4A18-BD14-DA2B54B068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CD028B-2418-49B5-BED2-903487439EC2}"/>
              </a:ext>
            </a:extLst>
          </p:cNvPr>
          <p:cNvSpPr>
            <a:spLocks noGrp="1"/>
          </p:cNvSpPr>
          <p:nvPr>
            <p:ph type="sldNum" sz="quarter" idx="12"/>
          </p:nvPr>
        </p:nvSpPr>
        <p:spPr/>
        <p:txBody>
          <a:bodyPr/>
          <a:lstStyle/>
          <a:p>
            <a:fld id="{FE3CBA01-BCFF-4408-80FF-B05C18D7EA44}" type="slidenum">
              <a:rPr lang="en-US" smtClean="0"/>
              <a:t>‹#›</a:t>
            </a:fld>
            <a:endParaRPr lang="en-US"/>
          </a:p>
        </p:txBody>
      </p:sp>
    </p:spTree>
    <p:extLst>
      <p:ext uri="{BB962C8B-B14F-4D97-AF65-F5344CB8AC3E}">
        <p14:creationId xmlns:p14="http://schemas.microsoft.com/office/powerpoint/2010/main" val="3464896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D96C6-9341-401A-9306-94414DA762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2479E7-5B2D-4932-9FD7-74D616BDD8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976F3D-B5CB-445D-BB94-131654DD93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C16CA7-CB97-47D4-BDBC-EF096F4D4BD1}"/>
              </a:ext>
            </a:extLst>
          </p:cNvPr>
          <p:cNvSpPr>
            <a:spLocks noGrp="1"/>
          </p:cNvSpPr>
          <p:nvPr>
            <p:ph type="dt" sz="half" idx="10"/>
          </p:nvPr>
        </p:nvSpPr>
        <p:spPr/>
        <p:txBody>
          <a:bodyPr/>
          <a:lstStyle/>
          <a:p>
            <a:fld id="{B7A3FC48-516D-4F1E-905E-CD540E9CCD4B}" type="datetimeFigureOut">
              <a:rPr lang="en-US" smtClean="0"/>
              <a:t>11/4/2025</a:t>
            </a:fld>
            <a:endParaRPr lang="en-US"/>
          </a:p>
        </p:txBody>
      </p:sp>
      <p:sp>
        <p:nvSpPr>
          <p:cNvPr id="6" name="Footer Placeholder 5">
            <a:extLst>
              <a:ext uri="{FF2B5EF4-FFF2-40B4-BE49-F238E27FC236}">
                <a16:creationId xmlns:a16="http://schemas.microsoft.com/office/drawing/2014/main" id="{A421C231-6849-42FD-BEDA-6FDE4F01DF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4869FD-1602-4496-B885-A151CF34C2EB}"/>
              </a:ext>
            </a:extLst>
          </p:cNvPr>
          <p:cNvSpPr>
            <a:spLocks noGrp="1"/>
          </p:cNvSpPr>
          <p:nvPr>
            <p:ph type="sldNum" sz="quarter" idx="12"/>
          </p:nvPr>
        </p:nvSpPr>
        <p:spPr/>
        <p:txBody>
          <a:bodyPr/>
          <a:lstStyle/>
          <a:p>
            <a:fld id="{FE3CBA01-BCFF-4408-80FF-B05C18D7EA44}" type="slidenum">
              <a:rPr lang="en-US" smtClean="0"/>
              <a:t>‹#›</a:t>
            </a:fld>
            <a:endParaRPr lang="en-US"/>
          </a:p>
        </p:txBody>
      </p:sp>
    </p:spTree>
    <p:extLst>
      <p:ext uri="{BB962C8B-B14F-4D97-AF65-F5344CB8AC3E}">
        <p14:creationId xmlns:p14="http://schemas.microsoft.com/office/powerpoint/2010/main" val="1807126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A894A-967D-4867-A1B2-B217262AB5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994B467-FFF0-4F09-A9EF-BCB7EDFD54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B4DD71-EE13-448A-A6DD-11AC5D7488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E465F86-A747-4544-B088-C357FBE119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FE1468-C0DA-4AE3-9F04-4F94C06D06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DB84330-F164-48EF-8EA8-3607188207D2}"/>
              </a:ext>
            </a:extLst>
          </p:cNvPr>
          <p:cNvSpPr>
            <a:spLocks noGrp="1"/>
          </p:cNvSpPr>
          <p:nvPr>
            <p:ph type="dt" sz="half" idx="10"/>
          </p:nvPr>
        </p:nvSpPr>
        <p:spPr/>
        <p:txBody>
          <a:bodyPr/>
          <a:lstStyle/>
          <a:p>
            <a:fld id="{B7A3FC48-516D-4F1E-905E-CD540E9CCD4B}" type="datetimeFigureOut">
              <a:rPr lang="en-US" smtClean="0"/>
              <a:t>11/4/2025</a:t>
            </a:fld>
            <a:endParaRPr lang="en-US"/>
          </a:p>
        </p:txBody>
      </p:sp>
      <p:sp>
        <p:nvSpPr>
          <p:cNvPr id="8" name="Footer Placeholder 7">
            <a:extLst>
              <a:ext uri="{FF2B5EF4-FFF2-40B4-BE49-F238E27FC236}">
                <a16:creationId xmlns:a16="http://schemas.microsoft.com/office/drawing/2014/main" id="{86122DE3-73F2-4BEF-9073-031B54EFA9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C00A1A-05F2-4CD3-982C-3674CE6B5964}"/>
              </a:ext>
            </a:extLst>
          </p:cNvPr>
          <p:cNvSpPr>
            <a:spLocks noGrp="1"/>
          </p:cNvSpPr>
          <p:nvPr>
            <p:ph type="sldNum" sz="quarter" idx="12"/>
          </p:nvPr>
        </p:nvSpPr>
        <p:spPr/>
        <p:txBody>
          <a:bodyPr/>
          <a:lstStyle/>
          <a:p>
            <a:fld id="{FE3CBA01-BCFF-4408-80FF-B05C18D7EA44}" type="slidenum">
              <a:rPr lang="en-US" smtClean="0"/>
              <a:t>‹#›</a:t>
            </a:fld>
            <a:endParaRPr lang="en-US"/>
          </a:p>
        </p:txBody>
      </p:sp>
    </p:spTree>
    <p:extLst>
      <p:ext uri="{BB962C8B-B14F-4D97-AF65-F5344CB8AC3E}">
        <p14:creationId xmlns:p14="http://schemas.microsoft.com/office/powerpoint/2010/main" val="1520993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D4CFD-D30E-4D86-9C19-F4C1580855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CCCB56-147B-48DB-A2E5-FC2C89FB31E5}"/>
              </a:ext>
            </a:extLst>
          </p:cNvPr>
          <p:cNvSpPr>
            <a:spLocks noGrp="1"/>
          </p:cNvSpPr>
          <p:nvPr>
            <p:ph type="dt" sz="half" idx="10"/>
          </p:nvPr>
        </p:nvSpPr>
        <p:spPr/>
        <p:txBody>
          <a:bodyPr/>
          <a:lstStyle/>
          <a:p>
            <a:fld id="{B7A3FC48-516D-4F1E-905E-CD540E9CCD4B}" type="datetimeFigureOut">
              <a:rPr lang="en-US" smtClean="0"/>
              <a:t>11/4/2025</a:t>
            </a:fld>
            <a:endParaRPr lang="en-US"/>
          </a:p>
        </p:txBody>
      </p:sp>
      <p:sp>
        <p:nvSpPr>
          <p:cNvPr id="4" name="Footer Placeholder 3">
            <a:extLst>
              <a:ext uri="{FF2B5EF4-FFF2-40B4-BE49-F238E27FC236}">
                <a16:creationId xmlns:a16="http://schemas.microsoft.com/office/drawing/2014/main" id="{403455D3-04AB-4A98-9C3D-0C2FE0A53F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98025F-4528-4CB3-AD8C-9DFAF7AAE990}"/>
              </a:ext>
            </a:extLst>
          </p:cNvPr>
          <p:cNvSpPr>
            <a:spLocks noGrp="1"/>
          </p:cNvSpPr>
          <p:nvPr>
            <p:ph type="sldNum" sz="quarter" idx="12"/>
          </p:nvPr>
        </p:nvSpPr>
        <p:spPr/>
        <p:txBody>
          <a:bodyPr/>
          <a:lstStyle/>
          <a:p>
            <a:fld id="{FE3CBA01-BCFF-4408-80FF-B05C18D7EA44}" type="slidenum">
              <a:rPr lang="en-US" smtClean="0"/>
              <a:t>‹#›</a:t>
            </a:fld>
            <a:endParaRPr lang="en-US"/>
          </a:p>
        </p:txBody>
      </p:sp>
    </p:spTree>
    <p:extLst>
      <p:ext uri="{BB962C8B-B14F-4D97-AF65-F5344CB8AC3E}">
        <p14:creationId xmlns:p14="http://schemas.microsoft.com/office/powerpoint/2010/main" val="2760159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9F3BF1-5C5C-4CCE-9957-D01F8ADBD6BA}"/>
              </a:ext>
            </a:extLst>
          </p:cNvPr>
          <p:cNvSpPr>
            <a:spLocks noGrp="1"/>
          </p:cNvSpPr>
          <p:nvPr>
            <p:ph type="dt" sz="half" idx="10"/>
          </p:nvPr>
        </p:nvSpPr>
        <p:spPr/>
        <p:txBody>
          <a:bodyPr/>
          <a:lstStyle/>
          <a:p>
            <a:fld id="{B7A3FC48-516D-4F1E-905E-CD540E9CCD4B}" type="datetimeFigureOut">
              <a:rPr lang="en-US" smtClean="0"/>
              <a:t>11/4/2025</a:t>
            </a:fld>
            <a:endParaRPr lang="en-US"/>
          </a:p>
        </p:txBody>
      </p:sp>
      <p:sp>
        <p:nvSpPr>
          <p:cNvPr id="3" name="Footer Placeholder 2">
            <a:extLst>
              <a:ext uri="{FF2B5EF4-FFF2-40B4-BE49-F238E27FC236}">
                <a16:creationId xmlns:a16="http://schemas.microsoft.com/office/drawing/2014/main" id="{54C1BF71-5650-420F-9442-B0A1AA0769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08DDF34-42F5-4C36-8A5B-40CB98A474C5}"/>
              </a:ext>
            </a:extLst>
          </p:cNvPr>
          <p:cNvSpPr>
            <a:spLocks noGrp="1"/>
          </p:cNvSpPr>
          <p:nvPr>
            <p:ph type="sldNum" sz="quarter" idx="12"/>
          </p:nvPr>
        </p:nvSpPr>
        <p:spPr/>
        <p:txBody>
          <a:bodyPr/>
          <a:lstStyle/>
          <a:p>
            <a:fld id="{FE3CBA01-BCFF-4408-80FF-B05C18D7EA44}" type="slidenum">
              <a:rPr lang="en-US" smtClean="0"/>
              <a:t>‹#›</a:t>
            </a:fld>
            <a:endParaRPr lang="en-US"/>
          </a:p>
        </p:txBody>
      </p:sp>
    </p:spTree>
    <p:extLst>
      <p:ext uri="{BB962C8B-B14F-4D97-AF65-F5344CB8AC3E}">
        <p14:creationId xmlns:p14="http://schemas.microsoft.com/office/powerpoint/2010/main" val="3130870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8F9C0-7723-406A-B193-123F4D11A0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5CFE8D-3F7D-4DA0-BE2C-514FA5BD77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A3D9C7-D2C9-47E0-A8FC-C5829467A6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DF9849-6970-496A-8643-6C0C6E269073}"/>
              </a:ext>
            </a:extLst>
          </p:cNvPr>
          <p:cNvSpPr>
            <a:spLocks noGrp="1"/>
          </p:cNvSpPr>
          <p:nvPr>
            <p:ph type="dt" sz="half" idx="10"/>
          </p:nvPr>
        </p:nvSpPr>
        <p:spPr/>
        <p:txBody>
          <a:bodyPr/>
          <a:lstStyle/>
          <a:p>
            <a:fld id="{B7A3FC48-516D-4F1E-905E-CD540E9CCD4B}" type="datetimeFigureOut">
              <a:rPr lang="en-US" smtClean="0"/>
              <a:t>11/4/2025</a:t>
            </a:fld>
            <a:endParaRPr lang="en-US"/>
          </a:p>
        </p:txBody>
      </p:sp>
      <p:sp>
        <p:nvSpPr>
          <p:cNvPr id="6" name="Footer Placeholder 5">
            <a:extLst>
              <a:ext uri="{FF2B5EF4-FFF2-40B4-BE49-F238E27FC236}">
                <a16:creationId xmlns:a16="http://schemas.microsoft.com/office/drawing/2014/main" id="{E554738F-8114-44CE-8067-A67D327441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580FE7-06B2-472E-84DB-6225AEC55CA8}"/>
              </a:ext>
            </a:extLst>
          </p:cNvPr>
          <p:cNvSpPr>
            <a:spLocks noGrp="1"/>
          </p:cNvSpPr>
          <p:nvPr>
            <p:ph type="sldNum" sz="quarter" idx="12"/>
          </p:nvPr>
        </p:nvSpPr>
        <p:spPr/>
        <p:txBody>
          <a:bodyPr/>
          <a:lstStyle/>
          <a:p>
            <a:fld id="{FE3CBA01-BCFF-4408-80FF-B05C18D7EA44}" type="slidenum">
              <a:rPr lang="en-US" smtClean="0"/>
              <a:t>‹#›</a:t>
            </a:fld>
            <a:endParaRPr lang="en-US"/>
          </a:p>
        </p:txBody>
      </p:sp>
    </p:spTree>
    <p:extLst>
      <p:ext uri="{BB962C8B-B14F-4D97-AF65-F5344CB8AC3E}">
        <p14:creationId xmlns:p14="http://schemas.microsoft.com/office/powerpoint/2010/main" val="264296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A0760-0B59-4D10-90D6-0F121DCDDB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29807D-555A-4173-AFBF-446FBBCA68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827BF90-B1A0-4CC8-B84A-0773117DB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FE9EE5-151A-49EE-B966-620C0AFDA4A0}"/>
              </a:ext>
            </a:extLst>
          </p:cNvPr>
          <p:cNvSpPr>
            <a:spLocks noGrp="1"/>
          </p:cNvSpPr>
          <p:nvPr>
            <p:ph type="dt" sz="half" idx="10"/>
          </p:nvPr>
        </p:nvSpPr>
        <p:spPr/>
        <p:txBody>
          <a:bodyPr/>
          <a:lstStyle/>
          <a:p>
            <a:fld id="{B7A3FC48-516D-4F1E-905E-CD540E9CCD4B}" type="datetimeFigureOut">
              <a:rPr lang="en-US" smtClean="0"/>
              <a:t>11/4/2025</a:t>
            </a:fld>
            <a:endParaRPr lang="en-US"/>
          </a:p>
        </p:txBody>
      </p:sp>
      <p:sp>
        <p:nvSpPr>
          <p:cNvPr id="6" name="Footer Placeholder 5">
            <a:extLst>
              <a:ext uri="{FF2B5EF4-FFF2-40B4-BE49-F238E27FC236}">
                <a16:creationId xmlns:a16="http://schemas.microsoft.com/office/drawing/2014/main" id="{13142E4D-8339-43F9-9CA2-128D53B814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DEA0E2-A8A7-406B-A8C3-2F97831B76C6}"/>
              </a:ext>
            </a:extLst>
          </p:cNvPr>
          <p:cNvSpPr>
            <a:spLocks noGrp="1"/>
          </p:cNvSpPr>
          <p:nvPr>
            <p:ph type="sldNum" sz="quarter" idx="12"/>
          </p:nvPr>
        </p:nvSpPr>
        <p:spPr/>
        <p:txBody>
          <a:bodyPr/>
          <a:lstStyle/>
          <a:p>
            <a:fld id="{FE3CBA01-BCFF-4408-80FF-B05C18D7EA44}" type="slidenum">
              <a:rPr lang="en-US" smtClean="0"/>
              <a:t>‹#›</a:t>
            </a:fld>
            <a:endParaRPr lang="en-US"/>
          </a:p>
        </p:txBody>
      </p:sp>
    </p:spTree>
    <p:extLst>
      <p:ext uri="{BB962C8B-B14F-4D97-AF65-F5344CB8AC3E}">
        <p14:creationId xmlns:p14="http://schemas.microsoft.com/office/powerpoint/2010/main" val="2749945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55B45-4DE9-4AC4-88F2-92864F013E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E3AD24-B79E-4E60-950D-E2F1887D65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8BF332-8756-4AE7-B920-F7EF09F925DC}"/>
              </a:ext>
            </a:extLst>
          </p:cNvPr>
          <p:cNvSpPr>
            <a:spLocks noGrp="1"/>
          </p:cNvSpPr>
          <p:nvPr>
            <p:ph type="dt" sz="half" idx="10"/>
          </p:nvPr>
        </p:nvSpPr>
        <p:spPr/>
        <p:txBody>
          <a:bodyPr/>
          <a:lstStyle/>
          <a:p>
            <a:fld id="{B7A3FC48-516D-4F1E-905E-CD540E9CCD4B}" type="datetimeFigureOut">
              <a:rPr lang="en-US" smtClean="0"/>
              <a:t>11/4/2025</a:t>
            </a:fld>
            <a:endParaRPr lang="en-US"/>
          </a:p>
        </p:txBody>
      </p:sp>
      <p:sp>
        <p:nvSpPr>
          <p:cNvPr id="5" name="Footer Placeholder 4">
            <a:extLst>
              <a:ext uri="{FF2B5EF4-FFF2-40B4-BE49-F238E27FC236}">
                <a16:creationId xmlns:a16="http://schemas.microsoft.com/office/drawing/2014/main" id="{1A9DEB82-84AF-49D7-95B4-2F5C405E0F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821322-FE02-45D2-90A2-E871464E1E02}"/>
              </a:ext>
            </a:extLst>
          </p:cNvPr>
          <p:cNvSpPr>
            <a:spLocks noGrp="1"/>
          </p:cNvSpPr>
          <p:nvPr>
            <p:ph type="sldNum" sz="quarter" idx="12"/>
          </p:nvPr>
        </p:nvSpPr>
        <p:spPr/>
        <p:txBody>
          <a:bodyPr/>
          <a:lstStyle/>
          <a:p>
            <a:fld id="{FE3CBA01-BCFF-4408-80FF-B05C18D7EA44}" type="slidenum">
              <a:rPr lang="en-US" smtClean="0"/>
              <a:t>‹#›</a:t>
            </a:fld>
            <a:endParaRPr lang="en-US"/>
          </a:p>
        </p:txBody>
      </p:sp>
    </p:spTree>
    <p:extLst>
      <p:ext uri="{BB962C8B-B14F-4D97-AF65-F5344CB8AC3E}">
        <p14:creationId xmlns:p14="http://schemas.microsoft.com/office/powerpoint/2010/main" val="2877920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5F0494-92BB-4571-A562-78511E402A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12564A-8963-488D-947A-47731ECBB7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24CAE2-30A2-4D09-813B-73085D8B6D1B}"/>
              </a:ext>
            </a:extLst>
          </p:cNvPr>
          <p:cNvSpPr>
            <a:spLocks noGrp="1"/>
          </p:cNvSpPr>
          <p:nvPr>
            <p:ph type="dt" sz="half" idx="10"/>
          </p:nvPr>
        </p:nvSpPr>
        <p:spPr/>
        <p:txBody>
          <a:bodyPr/>
          <a:lstStyle/>
          <a:p>
            <a:fld id="{B7A3FC48-516D-4F1E-905E-CD540E9CCD4B}" type="datetimeFigureOut">
              <a:rPr lang="en-US" smtClean="0"/>
              <a:t>11/4/2025</a:t>
            </a:fld>
            <a:endParaRPr lang="en-US"/>
          </a:p>
        </p:txBody>
      </p:sp>
      <p:sp>
        <p:nvSpPr>
          <p:cNvPr id="5" name="Footer Placeholder 4">
            <a:extLst>
              <a:ext uri="{FF2B5EF4-FFF2-40B4-BE49-F238E27FC236}">
                <a16:creationId xmlns:a16="http://schemas.microsoft.com/office/drawing/2014/main" id="{C8FB3720-CFDA-4B5D-949C-59599A2D72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EA06B3-2082-43CE-AA95-3909CCEA351C}"/>
              </a:ext>
            </a:extLst>
          </p:cNvPr>
          <p:cNvSpPr>
            <a:spLocks noGrp="1"/>
          </p:cNvSpPr>
          <p:nvPr>
            <p:ph type="sldNum" sz="quarter" idx="12"/>
          </p:nvPr>
        </p:nvSpPr>
        <p:spPr/>
        <p:txBody>
          <a:bodyPr/>
          <a:lstStyle/>
          <a:p>
            <a:fld id="{FE3CBA01-BCFF-4408-80FF-B05C18D7EA44}" type="slidenum">
              <a:rPr lang="en-US" smtClean="0"/>
              <a:t>‹#›</a:t>
            </a:fld>
            <a:endParaRPr lang="en-US"/>
          </a:p>
        </p:txBody>
      </p:sp>
    </p:spTree>
    <p:extLst>
      <p:ext uri="{BB962C8B-B14F-4D97-AF65-F5344CB8AC3E}">
        <p14:creationId xmlns:p14="http://schemas.microsoft.com/office/powerpoint/2010/main" val="1701535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BEF12B-AFC9-4AE6-B9C2-990B4053B4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4B6405-9B71-4D61-AD7C-0D5D6FD87B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981190-7811-461D-AB70-310D44CA1A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A3FC48-516D-4F1E-905E-CD540E9CCD4B}" type="datetimeFigureOut">
              <a:rPr lang="en-US" smtClean="0"/>
              <a:t>11/4/2025</a:t>
            </a:fld>
            <a:endParaRPr lang="en-US"/>
          </a:p>
        </p:txBody>
      </p:sp>
      <p:sp>
        <p:nvSpPr>
          <p:cNvPr id="5" name="Footer Placeholder 4">
            <a:extLst>
              <a:ext uri="{FF2B5EF4-FFF2-40B4-BE49-F238E27FC236}">
                <a16:creationId xmlns:a16="http://schemas.microsoft.com/office/drawing/2014/main" id="{C6A225BC-6283-49BB-83F8-7773820824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A5175F5-EBA6-437C-81F2-B0071752E8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3CBA01-BCFF-4408-80FF-B05C18D7EA44}" type="slidenum">
              <a:rPr lang="en-US" smtClean="0"/>
              <a:t>‹#›</a:t>
            </a:fld>
            <a:endParaRPr lang="en-US"/>
          </a:p>
        </p:txBody>
      </p:sp>
    </p:spTree>
    <p:extLst>
      <p:ext uri="{BB962C8B-B14F-4D97-AF65-F5344CB8AC3E}">
        <p14:creationId xmlns:p14="http://schemas.microsoft.com/office/powerpoint/2010/main" val="7747225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32DE0-9011-4836-97F5-5D3040F5D56F}"/>
              </a:ext>
            </a:extLst>
          </p:cNvPr>
          <p:cNvSpPr>
            <a:spLocks noGrp="1"/>
          </p:cNvSpPr>
          <p:nvPr>
            <p:ph type="ctrTitle"/>
          </p:nvPr>
        </p:nvSpPr>
        <p:spPr/>
        <p:txBody>
          <a:bodyPr/>
          <a:lstStyle/>
          <a:p>
            <a:r>
              <a:rPr lang="en-US" dirty="0"/>
              <a:t>Marketing Management </a:t>
            </a:r>
          </a:p>
        </p:txBody>
      </p:sp>
      <p:sp>
        <p:nvSpPr>
          <p:cNvPr id="3" name="Subtitle 2">
            <a:extLst>
              <a:ext uri="{FF2B5EF4-FFF2-40B4-BE49-F238E27FC236}">
                <a16:creationId xmlns:a16="http://schemas.microsoft.com/office/drawing/2014/main" id="{BDB7EFA4-12ED-4C34-8271-569C6E791824}"/>
              </a:ext>
            </a:extLst>
          </p:cNvPr>
          <p:cNvSpPr>
            <a:spLocks noGrp="1"/>
          </p:cNvSpPr>
          <p:nvPr>
            <p:ph type="subTitle" idx="1"/>
          </p:nvPr>
        </p:nvSpPr>
        <p:spPr/>
        <p:txBody>
          <a:bodyPr/>
          <a:lstStyle/>
          <a:p>
            <a:r>
              <a:rPr lang="en-US" dirty="0"/>
              <a:t>Dr. Rijul Chaturvedi </a:t>
            </a:r>
          </a:p>
        </p:txBody>
      </p:sp>
    </p:spTree>
    <p:extLst>
      <p:ext uri="{BB962C8B-B14F-4D97-AF65-F5344CB8AC3E}">
        <p14:creationId xmlns:p14="http://schemas.microsoft.com/office/powerpoint/2010/main" val="1859691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B82B0-FDC5-4B57-9322-B20CD0B310C3}"/>
              </a:ext>
            </a:extLst>
          </p:cNvPr>
          <p:cNvSpPr>
            <a:spLocks noGrp="1"/>
          </p:cNvSpPr>
          <p:nvPr>
            <p:ph type="title"/>
          </p:nvPr>
        </p:nvSpPr>
        <p:spPr/>
        <p:txBody>
          <a:bodyPr/>
          <a:lstStyle/>
          <a:p>
            <a:r>
              <a:rPr lang="en-US" dirty="0"/>
              <a:t>What is Marketing ? </a:t>
            </a:r>
          </a:p>
        </p:txBody>
      </p:sp>
      <p:sp>
        <p:nvSpPr>
          <p:cNvPr id="4" name="Rectangle 3">
            <a:extLst>
              <a:ext uri="{FF2B5EF4-FFF2-40B4-BE49-F238E27FC236}">
                <a16:creationId xmlns:a16="http://schemas.microsoft.com/office/drawing/2014/main" id="{843EE439-0E3B-4644-9F44-1889C522CCB9}"/>
              </a:ext>
            </a:extLst>
          </p:cNvPr>
          <p:cNvSpPr/>
          <p:nvPr/>
        </p:nvSpPr>
        <p:spPr>
          <a:xfrm>
            <a:off x="1233182" y="2910980"/>
            <a:ext cx="4647501" cy="21391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Social Process </a:t>
            </a:r>
          </a:p>
        </p:txBody>
      </p:sp>
      <p:sp>
        <p:nvSpPr>
          <p:cNvPr id="10" name="Rectangle 9">
            <a:extLst>
              <a:ext uri="{FF2B5EF4-FFF2-40B4-BE49-F238E27FC236}">
                <a16:creationId xmlns:a16="http://schemas.microsoft.com/office/drawing/2014/main" id="{8203C558-A177-49D6-BD19-DD39ECC48693}"/>
              </a:ext>
            </a:extLst>
          </p:cNvPr>
          <p:cNvSpPr/>
          <p:nvPr/>
        </p:nvSpPr>
        <p:spPr>
          <a:xfrm>
            <a:off x="6311317" y="2910980"/>
            <a:ext cx="4647501" cy="21391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Organizational Function </a:t>
            </a:r>
          </a:p>
        </p:txBody>
      </p:sp>
    </p:spTree>
    <p:extLst>
      <p:ext uri="{BB962C8B-B14F-4D97-AF65-F5344CB8AC3E}">
        <p14:creationId xmlns:p14="http://schemas.microsoft.com/office/powerpoint/2010/main" val="3482945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C59FF-D0BC-4164-A0B1-50A42F9DF020}"/>
              </a:ext>
            </a:extLst>
          </p:cNvPr>
          <p:cNvSpPr>
            <a:spLocks noGrp="1"/>
          </p:cNvSpPr>
          <p:nvPr>
            <p:ph type="title"/>
          </p:nvPr>
        </p:nvSpPr>
        <p:spPr/>
        <p:txBody>
          <a:bodyPr/>
          <a:lstStyle/>
          <a:p>
            <a:r>
              <a:rPr lang="en-US" dirty="0"/>
              <a:t>Exchange of Value </a:t>
            </a:r>
          </a:p>
        </p:txBody>
      </p:sp>
      <p:sp>
        <p:nvSpPr>
          <p:cNvPr id="3" name="Content Placeholder 2">
            <a:extLst>
              <a:ext uri="{FF2B5EF4-FFF2-40B4-BE49-F238E27FC236}">
                <a16:creationId xmlns:a16="http://schemas.microsoft.com/office/drawing/2014/main" id="{ADC1CDF0-F580-4C19-8C8D-6AA214D192B4}"/>
              </a:ext>
            </a:extLst>
          </p:cNvPr>
          <p:cNvSpPr>
            <a:spLocks noGrp="1"/>
          </p:cNvSpPr>
          <p:nvPr>
            <p:ph idx="1"/>
          </p:nvPr>
        </p:nvSpPr>
        <p:spPr>
          <a:xfrm>
            <a:off x="695588" y="1540399"/>
            <a:ext cx="10515600" cy="4351338"/>
          </a:xfrm>
        </p:spPr>
        <p:txBody>
          <a:bodyPr/>
          <a:lstStyle/>
          <a:p>
            <a:r>
              <a:rPr lang="en-US" i="1" dirty="0"/>
              <a:t>A Societal process by which individuals and groups obtain what they need and want through creating offering and freely exchanging products and services of value with others </a:t>
            </a:r>
            <a:r>
              <a:rPr lang="en-US" dirty="0"/>
              <a:t>(Kotler et al., 2023). </a:t>
            </a:r>
          </a:p>
        </p:txBody>
      </p:sp>
      <p:pic>
        <p:nvPicPr>
          <p:cNvPr id="2050" name="Picture 2" descr="In the lively heart of the local market, the scene captures the essence of daily life where fresh colorful produce is the main attraction. Two hands reach towards each other, one offering ripe bananas and the other holding out cash, symbolizing the traditional exchange and the timeless dance of commerce. Surrounded by the rich patterns of traditional garments, the exchange goes beyond a simple transaction, it’s a testament to community, culture, and survival.">
            <a:extLst>
              <a:ext uri="{FF2B5EF4-FFF2-40B4-BE49-F238E27FC236}">
                <a16:creationId xmlns:a16="http://schemas.microsoft.com/office/drawing/2014/main" id="{52C64F7A-1BB6-465A-BE2B-DF9DE7EA8B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0511" y="2865962"/>
            <a:ext cx="6275945" cy="3517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9174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AC1AE-885D-4947-ADB0-189BA2543DF4}"/>
              </a:ext>
            </a:extLst>
          </p:cNvPr>
          <p:cNvSpPr>
            <a:spLocks noGrp="1"/>
          </p:cNvSpPr>
          <p:nvPr>
            <p:ph type="title"/>
          </p:nvPr>
        </p:nvSpPr>
        <p:spPr/>
        <p:txBody>
          <a:bodyPr/>
          <a:lstStyle/>
          <a:p>
            <a:r>
              <a:rPr lang="en-US" dirty="0"/>
              <a:t>Conditions for Exchange Potential</a:t>
            </a:r>
          </a:p>
        </p:txBody>
      </p:sp>
      <p:sp>
        <p:nvSpPr>
          <p:cNvPr id="3" name="Content Placeholder 2">
            <a:extLst>
              <a:ext uri="{FF2B5EF4-FFF2-40B4-BE49-F238E27FC236}">
                <a16:creationId xmlns:a16="http://schemas.microsoft.com/office/drawing/2014/main" id="{C5325455-D386-4311-871B-95D804F2AC96}"/>
              </a:ext>
            </a:extLst>
          </p:cNvPr>
          <p:cNvSpPr>
            <a:spLocks noGrp="1"/>
          </p:cNvSpPr>
          <p:nvPr>
            <p:ph idx="1"/>
          </p:nvPr>
        </p:nvSpPr>
        <p:spPr/>
        <p:txBody>
          <a:bodyPr/>
          <a:lstStyle/>
          <a:p>
            <a:r>
              <a:rPr lang="en-US" dirty="0"/>
              <a:t>There Must be at least two parties </a:t>
            </a:r>
          </a:p>
          <a:p>
            <a:r>
              <a:rPr lang="en-US" dirty="0"/>
              <a:t>Each Party has something that might be of value to the other party </a:t>
            </a:r>
          </a:p>
          <a:p>
            <a:r>
              <a:rPr lang="en-US" dirty="0"/>
              <a:t>Each Party is capable of communication and delivery </a:t>
            </a:r>
          </a:p>
          <a:p>
            <a:r>
              <a:rPr lang="en-US" dirty="0"/>
              <a:t>Each party is free to accept or reject the exchange offer </a:t>
            </a:r>
          </a:p>
          <a:p>
            <a:r>
              <a:rPr lang="en-US" dirty="0"/>
              <a:t>Each party believe that it is appropriate or desirable to deal with the other party </a:t>
            </a:r>
          </a:p>
          <a:p>
            <a:endParaRPr lang="en-US" dirty="0"/>
          </a:p>
        </p:txBody>
      </p:sp>
    </p:spTree>
    <p:extLst>
      <p:ext uri="{BB962C8B-B14F-4D97-AF65-F5344CB8AC3E}">
        <p14:creationId xmlns:p14="http://schemas.microsoft.com/office/powerpoint/2010/main" val="4276227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05DC1-269B-44B3-A64D-49FB3EEDD005}"/>
              </a:ext>
            </a:extLst>
          </p:cNvPr>
          <p:cNvSpPr>
            <a:spLocks noGrp="1"/>
          </p:cNvSpPr>
          <p:nvPr>
            <p:ph type="title"/>
          </p:nvPr>
        </p:nvSpPr>
        <p:spPr/>
        <p:txBody>
          <a:bodyPr/>
          <a:lstStyle/>
          <a:p>
            <a:r>
              <a:rPr lang="en-US" dirty="0"/>
              <a:t>Value </a:t>
            </a:r>
          </a:p>
        </p:txBody>
      </p:sp>
      <p:pic>
        <p:nvPicPr>
          <p:cNvPr id="3074" name="Picture 2" descr="Cost Benefit Balance Illustrations, Royalty-Free Vector Graphics &amp; Clip ...">
            <a:extLst>
              <a:ext uri="{FF2B5EF4-FFF2-40B4-BE49-F238E27FC236}">
                <a16:creationId xmlns:a16="http://schemas.microsoft.com/office/drawing/2014/main" id="{E81D69C1-FCF5-4B73-AA05-15C4DE86276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20705" y="1690688"/>
            <a:ext cx="5032108" cy="3354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2152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33862-ED08-455A-96E4-738818FC930D}"/>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6A5368A-895B-4AA2-B06A-12A9E57B7DEC}"/>
              </a:ext>
            </a:extLst>
          </p:cNvPr>
          <p:cNvSpPr>
            <a:spLocks noGrp="1"/>
          </p:cNvSpPr>
          <p:nvPr>
            <p:ph idx="1"/>
          </p:nvPr>
        </p:nvSpPr>
        <p:spPr/>
        <p:txBody>
          <a:bodyPr/>
          <a:lstStyle/>
          <a:p>
            <a:r>
              <a:rPr lang="en-US" dirty="0"/>
              <a:t>Benefits :</a:t>
            </a:r>
          </a:p>
          <a:p>
            <a:pPr lvl="1"/>
            <a:r>
              <a:rPr lang="en-US" dirty="0"/>
              <a:t>Emotional </a:t>
            </a:r>
          </a:p>
          <a:p>
            <a:pPr lvl="1"/>
            <a:r>
              <a:rPr lang="en-US" dirty="0"/>
              <a:t>Functional </a:t>
            </a:r>
          </a:p>
          <a:p>
            <a:pPr lvl="1"/>
            <a:endParaRPr lang="en-US" dirty="0"/>
          </a:p>
          <a:p>
            <a:pPr lvl="1"/>
            <a:endParaRPr lang="en-US" dirty="0"/>
          </a:p>
          <a:p>
            <a:pPr lvl="1"/>
            <a:r>
              <a:rPr lang="en-US" dirty="0"/>
              <a:t>Cost :</a:t>
            </a:r>
          </a:p>
          <a:p>
            <a:pPr lvl="1"/>
            <a:r>
              <a:rPr lang="en-US" dirty="0"/>
              <a:t>Psychological </a:t>
            </a:r>
          </a:p>
          <a:p>
            <a:pPr lvl="1"/>
            <a:r>
              <a:rPr lang="en-US" dirty="0"/>
              <a:t>Monetary </a:t>
            </a:r>
          </a:p>
          <a:p>
            <a:pPr lvl="1"/>
            <a:r>
              <a:rPr lang="en-US" dirty="0"/>
              <a:t>Time</a:t>
            </a:r>
          </a:p>
          <a:p>
            <a:pPr lvl="1"/>
            <a:r>
              <a:rPr lang="en-US" dirty="0"/>
              <a:t>Energy </a:t>
            </a:r>
          </a:p>
        </p:txBody>
      </p:sp>
    </p:spTree>
    <p:extLst>
      <p:ext uri="{BB962C8B-B14F-4D97-AF65-F5344CB8AC3E}">
        <p14:creationId xmlns:p14="http://schemas.microsoft.com/office/powerpoint/2010/main" val="2285085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936AF-B902-400E-98EE-59E8FD5FAB06}"/>
              </a:ext>
            </a:extLst>
          </p:cNvPr>
          <p:cNvSpPr>
            <a:spLocks noGrp="1"/>
          </p:cNvSpPr>
          <p:nvPr>
            <p:ph type="title"/>
          </p:nvPr>
        </p:nvSpPr>
        <p:spPr/>
        <p:txBody>
          <a:bodyPr/>
          <a:lstStyle/>
          <a:p>
            <a:r>
              <a:rPr lang="en-US" dirty="0"/>
              <a:t>Definition from American Marketing Association </a:t>
            </a:r>
          </a:p>
        </p:txBody>
      </p:sp>
      <p:sp>
        <p:nvSpPr>
          <p:cNvPr id="3" name="Content Placeholder 2">
            <a:extLst>
              <a:ext uri="{FF2B5EF4-FFF2-40B4-BE49-F238E27FC236}">
                <a16:creationId xmlns:a16="http://schemas.microsoft.com/office/drawing/2014/main" id="{2536DCF9-B974-41D1-B7D9-AB4070F0B92D}"/>
              </a:ext>
            </a:extLst>
          </p:cNvPr>
          <p:cNvSpPr>
            <a:spLocks noGrp="1"/>
          </p:cNvSpPr>
          <p:nvPr>
            <p:ph idx="1"/>
          </p:nvPr>
        </p:nvSpPr>
        <p:spPr/>
        <p:txBody>
          <a:bodyPr/>
          <a:lstStyle/>
          <a:p>
            <a:pPr marL="0" indent="0" algn="just">
              <a:buNone/>
            </a:pPr>
            <a:r>
              <a:rPr lang="en-US" dirty="0"/>
              <a:t>Marketing is an organizational function and a set of process for creating, communicating, and delivering value to the customers and for managing customer relationships in ways that benefit the organization and its stakeholders  </a:t>
            </a:r>
          </a:p>
        </p:txBody>
      </p:sp>
      <p:sp>
        <p:nvSpPr>
          <p:cNvPr id="4" name="AutoShape 2" descr="Image of ">
            <a:extLst>
              <a:ext uri="{FF2B5EF4-FFF2-40B4-BE49-F238E27FC236}">
                <a16:creationId xmlns:a16="http://schemas.microsoft.com/office/drawing/2014/main" id="{11A45BE6-CBE6-4B0B-9BCA-E34B0602988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95583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Image of ">
            <a:extLst>
              <a:ext uri="{FF2B5EF4-FFF2-40B4-BE49-F238E27FC236}">
                <a16:creationId xmlns:a16="http://schemas.microsoft.com/office/drawing/2014/main" id="{C181DB00-74F6-4E7D-986E-7208B8E5B86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0B3499C7-8155-46E8-95B1-92B3D0C017BF}"/>
              </a:ext>
            </a:extLst>
          </p:cNvPr>
          <p:cNvPicPr>
            <a:picLocks noChangeAspect="1"/>
          </p:cNvPicPr>
          <p:nvPr/>
        </p:nvPicPr>
        <p:blipFill>
          <a:blip r:embed="rId2"/>
          <a:stretch>
            <a:fillRect/>
          </a:stretch>
        </p:blipFill>
        <p:spPr>
          <a:xfrm>
            <a:off x="3169640" y="269145"/>
            <a:ext cx="6157519" cy="6157519"/>
          </a:xfrm>
          <a:prstGeom prst="rect">
            <a:avLst/>
          </a:prstGeom>
        </p:spPr>
      </p:pic>
    </p:spTree>
    <p:extLst>
      <p:ext uri="{BB962C8B-B14F-4D97-AF65-F5344CB8AC3E}">
        <p14:creationId xmlns:p14="http://schemas.microsoft.com/office/powerpoint/2010/main" val="485960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46C3F-76AE-40DA-9095-4115EE4C09B3}"/>
              </a:ext>
            </a:extLst>
          </p:cNvPr>
          <p:cNvSpPr>
            <a:spLocks noGrp="1"/>
          </p:cNvSpPr>
          <p:nvPr>
            <p:ph type="title"/>
          </p:nvPr>
        </p:nvSpPr>
        <p:spPr/>
        <p:txBody>
          <a:bodyPr/>
          <a:lstStyle/>
          <a:p>
            <a:r>
              <a:rPr lang="en-US" dirty="0"/>
              <a:t>Simple Marketing System </a:t>
            </a:r>
          </a:p>
        </p:txBody>
      </p:sp>
      <p:pic>
        <p:nvPicPr>
          <p:cNvPr id="6148" name="Picture 4" descr="Slide 6">
            <a:extLst>
              <a:ext uri="{FF2B5EF4-FFF2-40B4-BE49-F238E27FC236}">
                <a16:creationId xmlns:a16="http://schemas.microsoft.com/office/drawing/2014/main" id="{1A2668AC-2860-4489-BCF2-B754FB3B50A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4332"/>
          <a:stretch/>
        </p:blipFill>
        <p:spPr bwMode="auto">
          <a:xfrm>
            <a:off x="2801923" y="1812023"/>
            <a:ext cx="7076988" cy="4512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4395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28F21-FF28-41E3-BBE2-C4DEE6B42C91}"/>
              </a:ext>
            </a:extLst>
          </p:cNvPr>
          <p:cNvSpPr>
            <a:spLocks noGrp="1"/>
          </p:cNvSpPr>
          <p:nvPr>
            <p:ph type="title"/>
          </p:nvPr>
        </p:nvSpPr>
        <p:spPr/>
        <p:txBody>
          <a:bodyPr/>
          <a:lstStyle/>
          <a:p>
            <a:r>
              <a:rPr lang="en-US" dirty="0"/>
              <a:t>Marketing Vs Sales </a:t>
            </a:r>
          </a:p>
        </p:txBody>
      </p:sp>
      <p:sp>
        <p:nvSpPr>
          <p:cNvPr id="3" name="Content Placeholder 2">
            <a:extLst>
              <a:ext uri="{FF2B5EF4-FFF2-40B4-BE49-F238E27FC236}">
                <a16:creationId xmlns:a16="http://schemas.microsoft.com/office/drawing/2014/main" id="{4D11065F-BF31-44FE-88AF-6C556B7B423D}"/>
              </a:ext>
            </a:extLst>
          </p:cNvPr>
          <p:cNvSpPr>
            <a:spLocks noGrp="1"/>
          </p:cNvSpPr>
          <p:nvPr>
            <p:ph idx="1"/>
          </p:nvPr>
        </p:nvSpPr>
        <p:spPr/>
        <p:txBody>
          <a:bodyPr/>
          <a:lstStyle/>
          <a:p>
            <a:r>
              <a:rPr lang="en-US" dirty="0"/>
              <a:t>Sales oriented Process </a:t>
            </a:r>
          </a:p>
          <a:p>
            <a:endParaRPr lang="en-US" dirty="0"/>
          </a:p>
          <a:p>
            <a:endParaRPr lang="en-US" dirty="0"/>
          </a:p>
          <a:p>
            <a:pPr marL="0" indent="0">
              <a:buNone/>
            </a:pPr>
            <a:endParaRPr lang="en-US" dirty="0"/>
          </a:p>
          <a:p>
            <a:r>
              <a:rPr lang="en-US" dirty="0"/>
              <a:t>Marketing Process </a:t>
            </a:r>
          </a:p>
          <a:p>
            <a:endParaRPr lang="en-US" dirty="0"/>
          </a:p>
        </p:txBody>
      </p:sp>
      <p:sp>
        <p:nvSpPr>
          <p:cNvPr id="4" name="Flowchart: Off-page Connector 3">
            <a:extLst>
              <a:ext uri="{FF2B5EF4-FFF2-40B4-BE49-F238E27FC236}">
                <a16:creationId xmlns:a16="http://schemas.microsoft.com/office/drawing/2014/main" id="{B7D99565-1E87-4C07-AC29-0DDC8707C999}"/>
              </a:ext>
            </a:extLst>
          </p:cNvPr>
          <p:cNvSpPr/>
          <p:nvPr/>
        </p:nvSpPr>
        <p:spPr>
          <a:xfrm rot="16200000">
            <a:off x="5578678" y="-1677799"/>
            <a:ext cx="847288" cy="9236279"/>
          </a:xfrm>
          <a:prstGeom prst="flowChartOffpage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Off-page Connector 4">
            <a:extLst>
              <a:ext uri="{FF2B5EF4-FFF2-40B4-BE49-F238E27FC236}">
                <a16:creationId xmlns:a16="http://schemas.microsoft.com/office/drawing/2014/main" id="{B2A8C95B-F1FB-47C6-8F0F-E7DAC4C51969}"/>
              </a:ext>
            </a:extLst>
          </p:cNvPr>
          <p:cNvSpPr/>
          <p:nvPr/>
        </p:nvSpPr>
        <p:spPr>
          <a:xfrm rot="16200000">
            <a:off x="5578678" y="823518"/>
            <a:ext cx="847288" cy="9236279"/>
          </a:xfrm>
          <a:prstGeom prst="flowChartOffpage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478AC4E-4D46-45AB-B308-2DD021AFB826}"/>
              </a:ext>
            </a:extLst>
          </p:cNvPr>
          <p:cNvSpPr txBox="1"/>
          <p:nvPr/>
        </p:nvSpPr>
        <p:spPr>
          <a:xfrm>
            <a:off x="1661020" y="2673532"/>
            <a:ext cx="2801923" cy="369332"/>
          </a:xfrm>
          <a:prstGeom prst="rect">
            <a:avLst/>
          </a:prstGeom>
          <a:noFill/>
        </p:spPr>
        <p:txBody>
          <a:bodyPr wrap="square" rtlCol="0">
            <a:spAutoFit/>
          </a:bodyPr>
          <a:lstStyle/>
          <a:p>
            <a:r>
              <a:rPr lang="en-US" b="1" dirty="0">
                <a:solidFill>
                  <a:schemeClr val="bg1"/>
                </a:solidFill>
              </a:rPr>
              <a:t>Produce </a:t>
            </a:r>
          </a:p>
        </p:txBody>
      </p:sp>
      <p:sp>
        <p:nvSpPr>
          <p:cNvPr id="7" name="TextBox 6">
            <a:extLst>
              <a:ext uri="{FF2B5EF4-FFF2-40B4-BE49-F238E27FC236}">
                <a16:creationId xmlns:a16="http://schemas.microsoft.com/office/drawing/2014/main" id="{F9D46EEB-3816-47FA-90D5-96379E086343}"/>
              </a:ext>
            </a:extLst>
          </p:cNvPr>
          <p:cNvSpPr txBox="1"/>
          <p:nvPr/>
        </p:nvSpPr>
        <p:spPr>
          <a:xfrm>
            <a:off x="6871982" y="2672590"/>
            <a:ext cx="2801923" cy="369332"/>
          </a:xfrm>
          <a:prstGeom prst="rect">
            <a:avLst/>
          </a:prstGeom>
          <a:noFill/>
        </p:spPr>
        <p:txBody>
          <a:bodyPr wrap="square" rtlCol="0">
            <a:spAutoFit/>
          </a:bodyPr>
          <a:lstStyle/>
          <a:p>
            <a:r>
              <a:rPr lang="en-US" b="1" dirty="0">
                <a:solidFill>
                  <a:schemeClr val="bg1"/>
                </a:solidFill>
              </a:rPr>
              <a:t>Sell </a:t>
            </a:r>
          </a:p>
        </p:txBody>
      </p:sp>
      <p:sp>
        <p:nvSpPr>
          <p:cNvPr id="9" name="TextBox 8">
            <a:extLst>
              <a:ext uri="{FF2B5EF4-FFF2-40B4-BE49-F238E27FC236}">
                <a16:creationId xmlns:a16="http://schemas.microsoft.com/office/drawing/2014/main" id="{3F02656F-71E3-4BF3-967B-C0EE2B87D179}"/>
              </a:ext>
            </a:extLst>
          </p:cNvPr>
          <p:cNvSpPr txBox="1"/>
          <p:nvPr/>
        </p:nvSpPr>
        <p:spPr>
          <a:xfrm>
            <a:off x="1661020" y="5256991"/>
            <a:ext cx="2801923" cy="369332"/>
          </a:xfrm>
          <a:prstGeom prst="rect">
            <a:avLst/>
          </a:prstGeom>
          <a:noFill/>
        </p:spPr>
        <p:txBody>
          <a:bodyPr wrap="square" rtlCol="0">
            <a:spAutoFit/>
          </a:bodyPr>
          <a:lstStyle/>
          <a:p>
            <a:r>
              <a:rPr lang="en-US" b="1" dirty="0">
                <a:solidFill>
                  <a:schemeClr val="bg1"/>
                </a:solidFill>
              </a:rPr>
              <a:t>Create the Value </a:t>
            </a:r>
          </a:p>
        </p:txBody>
      </p:sp>
      <p:sp>
        <p:nvSpPr>
          <p:cNvPr id="10" name="TextBox 9">
            <a:extLst>
              <a:ext uri="{FF2B5EF4-FFF2-40B4-BE49-F238E27FC236}">
                <a16:creationId xmlns:a16="http://schemas.microsoft.com/office/drawing/2014/main" id="{5AC01F94-6CA3-4F06-A1C8-0E308F81FE05}"/>
              </a:ext>
            </a:extLst>
          </p:cNvPr>
          <p:cNvSpPr txBox="1"/>
          <p:nvPr/>
        </p:nvSpPr>
        <p:spPr>
          <a:xfrm>
            <a:off x="3607963" y="5258914"/>
            <a:ext cx="2801923" cy="369332"/>
          </a:xfrm>
          <a:prstGeom prst="rect">
            <a:avLst/>
          </a:prstGeom>
          <a:noFill/>
        </p:spPr>
        <p:txBody>
          <a:bodyPr wrap="square" rtlCol="0">
            <a:spAutoFit/>
          </a:bodyPr>
          <a:lstStyle/>
          <a:p>
            <a:r>
              <a:rPr lang="en-US" b="1" dirty="0">
                <a:solidFill>
                  <a:schemeClr val="bg1"/>
                </a:solidFill>
              </a:rPr>
              <a:t>Communicate the Value </a:t>
            </a:r>
          </a:p>
        </p:txBody>
      </p:sp>
      <p:sp>
        <p:nvSpPr>
          <p:cNvPr id="11" name="TextBox 10">
            <a:extLst>
              <a:ext uri="{FF2B5EF4-FFF2-40B4-BE49-F238E27FC236}">
                <a16:creationId xmlns:a16="http://schemas.microsoft.com/office/drawing/2014/main" id="{8D15AD01-5579-4C9E-B6A2-4A4AB7C6C453}"/>
              </a:ext>
            </a:extLst>
          </p:cNvPr>
          <p:cNvSpPr txBox="1"/>
          <p:nvPr/>
        </p:nvSpPr>
        <p:spPr>
          <a:xfrm>
            <a:off x="6268671" y="5262582"/>
            <a:ext cx="2801923" cy="369332"/>
          </a:xfrm>
          <a:prstGeom prst="rect">
            <a:avLst/>
          </a:prstGeom>
          <a:noFill/>
        </p:spPr>
        <p:txBody>
          <a:bodyPr wrap="square" rtlCol="0">
            <a:spAutoFit/>
          </a:bodyPr>
          <a:lstStyle/>
          <a:p>
            <a:r>
              <a:rPr lang="en-US" b="1" dirty="0">
                <a:solidFill>
                  <a:schemeClr val="bg1"/>
                </a:solidFill>
              </a:rPr>
              <a:t>Deliver The Value</a:t>
            </a:r>
          </a:p>
        </p:txBody>
      </p:sp>
    </p:spTree>
    <p:extLst>
      <p:ext uri="{BB962C8B-B14F-4D97-AF65-F5344CB8AC3E}">
        <p14:creationId xmlns:p14="http://schemas.microsoft.com/office/powerpoint/2010/main" val="3647394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3C13B-AAF2-4744-97E6-73178516005D}"/>
              </a:ext>
            </a:extLst>
          </p:cNvPr>
          <p:cNvSpPr>
            <a:spLocks noGrp="1"/>
          </p:cNvSpPr>
          <p:nvPr>
            <p:ph type="title"/>
          </p:nvPr>
        </p:nvSpPr>
        <p:spPr/>
        <p:txBody>
          <a:bodyPr/>
          <a:lstStyle/>
          <a:p>
            <a:r>
              <a:rPr lang="en-US" dirty="0"/>
              <a:t>Core Concepts in Marketing </a:t>
            </a:r>
          </a:p>
        </p:txBody>
      </p:sp>
      <p:sp>
        <p:nvSpPr>
          <p:cNvPr id="3" name="Content Placeholder 2">
            <a:extLst>
              <a:ext uri="{FF2B5EF4-FFF2-40B4-BE49-F238E27FC236}">
                <a16:creationId xmlns:a16="http://schemas.microsoft.com/office/drawing/2014/main" id="{E1D7E3B5-2BE2-4D3B-8F9D-28EE9D7DBA8C}"/>
              </a:ext>
            </a:extLst>
          </p:cNvPr>
          <p:cNvSpPr>
            <a:spLocks noGrp="1"/>
          </p:cNvSpPr>
          <p:nvPr>
            <p:ph idx="1"/>
          </p:nvPr>
        </p:nvSpPr>
        <p:spPr/>
        <p:txBody>
          <a:bodyPr/>
          <a:lstStyle/>
          <a:p>
            <a:endParaRPr lang="en-US" dirty="0"/>
          </a:p>
          <a:p>
            <a:pPr marL="0" indent="0">
              <a:buNone/>
            </a:pPr>
            <a:endParaRPr lang="en-US" dirty="0"/>
          </a:p>
          <a:p>
            <a:r>
              <a:rPr lang="en-US" dirty="0"/>
              <a:t>Need </a:t>
            </a:r>
          </a:p>
          <a:p>
            <a:r>
              <a:rPr lang="en-US" dirty="0"/>
              <a:t>Customer </a:t>
            </a:r>
          </a:p>
          <a:p>
            <a:r>
              <a:rPr lang="en-US" dirty="0"/>
              <a:t>Market </a:t>
            </a:r>
          </a:p>
          <a:p>
            <a:r>
              <a:rPr lang="en-US" dirty="0"/>
              <a:t>Product </a:t>
            </a:r>
          </a:p>
        </p:txBody>
      </p:sp>
    </p:spTree>
    <p:extLst>
      <p:ext uri="{BB962C8B-B14F-4D97-AF65-F5344CB8AC3E}">
        <p14:creationId xmlns:p14="http://schemas.microsoft.com/office/powerpoint/2010/main" val="581455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70FC1-2384-4C93-B8B8-882C913B442C}"/>
              </a:ext>
            </a:extLst>
          </p:cNvPr>
          <p:cNvSpPr>
            <a:spLocks noGrp="1"/>
          </p:cNvSpPr>
          <p:nvPr>
            <p:ph type="title"/>
          </p:nvPr>
        </p:nvSpPr>
        <p:spPr/>
        <p:txBody>
          <a:bodyPr/>
          <a:lstStyle/>
          <a:p>
            <a:r>
              <a:rPr lang="en-US" dirty="0"/>
              <a:t>Strategic Marketing Process</a:t>
            </a:r>
          </a:p>
        </p:txBody>
      </p:sp>
      <p:sp>
        <p:nvSpPr>
          <p:cNvPr id="6" name="Flowchart: Off-page Connector 5">
            <a:extLst>
              <a:ext uri="{FF2B5EF4-FFF2-40B4-BE49-F238E27FC236}">
                <a16:creationId xmlns:a16="http://schemas.microsoft.com/office/drawing/2014/main" id="{8C5DA37E-2FAD-4A74-9E1A-7B3E845664A2}"/>
              </a:ext>
            </a:extLst>
          </p:cNvPr>
          <p:cNvSpPr/>
          <p:nvPr/>
        </p:nvSpPr>
        <p:spPr>
          <a:xfrm rot="16200000">
            <a:off x="5156782" y="-1138325"/>
            <a:ext cx="2004969" cy="10389067"/>
          </a:xfrm>
          <a:prstGeom prst="flowChartOffpage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533E605-2874-4DBB-8F31-9DCF89686D68}"/>
              </a:ext>
            </a:extLst>
          </p:cNvPr>
          <p:cNvSpPr txBox="1"/>
          <p:nvPr/>
        </p:nvSpPr>
        <p:spPr>
          <a:xfrm>
            <a:off x="1040236" y="3445777"/>
            <a:ext cx="2130803" cy="1200329"/>
          </a:xfrm>
          <a:prstGeom prst="rect">
            <a:avLst/>
          </a:prstGeom>
          <a:noFill/>
        </p:spPr>
        <p:txBody>
          <a:bodyPr wrap="square" rtlCol="0">
            <a:spAutoFit/>
          </a:bodyPr>
          <a:lstStyle/>
          <a:p>
            <a:r>
              <a:rPr lang="en-US" b="1" dirty="0">
                <a:solidFill>
                  <a:schemeClr val="accent2">
                    <a:lumMod val="60000"/>
                    <a:lumOff val="40000"/>
                  </a:schemeClr>
                </a:solidFill>
              </a:rPr>
              <a:t>Business Analysis </a:t>
            </a:r>
          </a:p>
          <a:p>
            <a:r>
              <a:rPr lang="en-US" b="1" dirty="0">
                <a:solidFill>
                  <a:schemeClr val="bg1"/>
                </a:solidFill>
              </a:rPr>
              <a:t>Customer </a:t>
            </a:r>
          </a:p>
          <a:p>
            <a:r>
              <a:rPr lang="en-US" b="1" dirty="0">
                <a:solidFill>
                  <a:schemeClr val="bg1"/>
                </a:solidFill>
              </a:rPr>
              <a:t>Company </a:t>
            </a:r>
          </a:p>
          <a:p>
            <a:r>
              <a:rPr lang="en-US" b="1" dirty="0">
                <a:solidFill>
                  <a:schemeClr val="bg1"/>
                </a:solidFill>
              </a:rPr>
              <a:t>Competitor </a:t>
            </a:r>
          </a:p>
        </p:txBody>
      </p:sp>
      <p:sp>
        <p:nvSpPr>
          <p:cNvPr id="8" name="TextBox 7">
            <a:extLst>
              <a:ext uri="{FF2B5EF4-FFF2-40B4-BE49-F238E27FC236}">
                <a16:creationId xmlns:a16="http://schemas.microsoft.com/office/drawing/2014/main" id="{BBA78A22-1B53-42E8-A8B0-A56F2E295D82}"/>
              </a:ext>
            </a:extLst>
          </p:cNvPr>
          <p:cNvSpPr txBox="1"/>
          <p:nvPr/>
        </p:nvSpPr>
        <p:spPr>
          <a:xfrm>
            <a:off x="3965197" y="3456043"/>
            <a:ext cx="2130803" cy="1200329"/>
          </a:xfrm>
          <a:prstGeom prst="rect">
            <a:avLst/>
          </a:prstGeom>
          <a:noFill/>
        </p:spPr>
        <p:txBody>
          <a:bodyPr wrap="square" rtlCol="0">
            <a:spAutoFit/>
          </a:bodyPr>
          <a:lstStyle/>
          <a:p>
            <a:r>
              <a:rPr lang="en-US" b="1" dirty="0">
                <a:solidFill>
                  <a:schemeClr val="accent2">
                    <a:lumMod val="60000"/>
                    <a:lumOff val="40000"/>
                  </a:schemeClr>
                </a:solidFill>
              </a:rPr>
              <a:t>Marketing Strategy </a:t>
            </a:r>
          </a:p>
          <a:p>
            <a:r>
              <a:rPr lang="en-US" b="1" dirty="0">
                <a:solidFill>
                  <a:schemeClr val="bg1"/>
                </a:solidFill>
              </a:rPr>
              <a:t>Segmentation </a:t>
            </a:r>
          </a:p>
          <a:p>
            <a:r>
              <a:rPr lang="en-US" b="1" dirty="0">
                <a:solidFill>
                  <a:schemeClr val="bg1"/>
                </a:solidFill>
              </a:rPr>
              <a:t>Targeting </a:t>
            </a:r>
          </a:p>
          <a:p>
            <a:r>
              <a:rPr lang="en-US" b="1" dirty="0">
                <a:solidFill>
                  <a:schemeClr val="bg1"/>
                </a:solidFill>
              </a:rPr>
              <a:t>Positioning </a:t>
            </a:r>
          </a:p>
        </p:txBody>
      </p:sp>
      <p:sp>
        <p:nvSpPr>
          <p:cNvPr id="9" name="TextBox 8">
            <a:extLst>
              <a:ext uri="{FF2B5EF4-FFF2-40B4-BE49-F238E27FC236}">
                <a16:creationId xmlns:a16="http://schemas.microsoft.com/office/drawing/2014/main" id="{445DC0C3-CCFD-4070-9720-F3BF2C11CA37}"/>
              </a:ext>
            </a:extLst>
          </p:cNvPr>
          <p:cNvSpPr txBox="1"/>
          <p:nvPr/>
        </p:nvSpPr>
        <p:spPr>
          <a:xfrm>
            <a:off x="7299823" y="3317543"/>
            <a:ext cx="2130803" cy="1477328"/>
          </a:xfrm>
          <a:prstGeom prst="rect">
            <a:avLst/>
          </a:prstGeom>
          <a:noFill/>
        </p:spPr>
        <p:txBody>
          <a:bodyPr wrap="square" rtlCol="0">
            <a:spAutoFit/>
          </a:bodyPr>
          <a:lstStyle/>
          <a:p>
            <a:r>
              <a:rPr lang="en-US" b="1" dirty="0">
                <a:solidFill>
                  <a:schemeClr val="accent2">
                    <a:lumMod val="60000"/>
                    <a:lumOff val="40000"/>
                  </a:schemeClr>
                </a:solidFill>
              </a:rPr>
              <a:t>Marketing Mix </a:t>
            </a:r>
          </a:p>
          <a:p>
            <a:r>
              <a:rPr lang="en-US" b="1" dirty="0">
                <a:solidFill>
                  <a:schemeClr val="bg1"/>
                </a:solidFill>
              </a:rPr>
              <a:t>Product </a:t>
            </a:r>
          </a:p>
          <a:p>
            <a:r>
              <a:rPr lang="en-US" b="1" dirty="0">
                <a:solidFill>
                  <a:schemeClr val="bg1"/>
                </a:solidFill>
              </a:rPr>
              <a:t>Price </a:t>
            </a:r>
          </a:p>
          <a:p>
            <a:r>
              <a:rPr lang="en-US" b="1" dirty="0">
                <a:solidFill>
                  <a:schemeClr val="bg1"/>
                </a:solidFill>
              </a:rPr>
              <a:t>Place</a:t>
            </a:r>
          </a:p>
          <a:p>
            <a:r>
              <a:rPr lang="en-US" b="1" dirty="0">
                <a:solidFill>
                  <a:schemeClr val="bg1"/>
                </a:solidFill>
              </a:rPr>
              <a:t>Promotion</a:t>
            </a:r>
          </a:p>
        </p:txBody>
      </p:sp>
    </p:spTree>
    <p:extLst>
      <p:ext uri="{BB962C8B-B14F-4D97-AF65-F5344CB8AC3E}">
        <p14:creationId xmlns:p14="http://schemas.microsoft.com/office/powerpoint/2010/main" val="1457274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7C134A-831A-461A-94FC-DCF20AB9D97C}"/>
              </a:ext>
            </a:extLst>
          </p:cNvPr>
          <p:cNvPicPr>
            <a:picLocks noChangeAspect="1"/>
          </p:cNvPicPr>
          <p:nvPr/>
        </p:nvPicPr>
        <p:blipFill>
          <a:blip r:embed="rId2"/>
          <a:stretch>
            <a:fillRect/>
          </a:stretch>
        </p:blipFill>
        <p:spPr>
          <a:xfrm>
            <a:off x="938598" y="69574"/>
            <a:ext cx="10314803" cy="6858000"/>
          </a:xfrm>
          <a:prstGeom prst="rect">
            <a:avLst/>
          </a:prstGeom>
        </p:spPr>
      </p:pic>
    </p:spTree>
    <p:extLst>
      <p:ext uri="{BB962C8B-B14F-4D97-AF65-F5344CB8AC3E}">
        <p14:creationId xmlns:p14="http://schemas.microsoft.com/office/powerpoint/2010/main" val="3285495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E9EEF42-9348-432E-9CB6-D1C3B828E118}"/>
              </a:ext>
            </a:extLst>
          </p:cNvPr>
          <p:cNvPicPr>
            <a:picLocks noChangeAspect="1"/>
          </p:cNvPicPr>
          <p:nvPr/>
        </p:nvPicPr>
        <p:blipFill rotWithShape="1">
          <a:blip r:embed="rId2"/>
          <a:srcRect b="7053"/>
          <a:stretch/>
        </p:blipFill>
        <p:spPr>
          <a:xfrm>
            <a:off x="1551963" y="356531"/>
            <a:ext cx="8008690" cy="5582875"/>
          </a:xfrm>
          <a:prstGeom prst="rect">
            <a:avLst/>
          </a:prstGeom>
        </p:spPr>
      </p:pic>
    </p:spTree>
    <p:extLst>
      <p:ext uri="{BB962C8B-B14F-4D97-AF65-F5344CB8AC3E}">
        <p14:creationId xmlns:p14="http://schemas.microsoft.com/office/powerpoint/2010/main" val="3657730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0C7FE-7909-421C-9278-A47A9738BD02}"/>
              </a:ext>
            </a:extLst>
          </p:cNvPr>
          <p:cNvSpPr>
            <a:spLocks noGrp="1"/>
          </p:cNvSpPr>
          <p:nvPr>
            <p:ph type="title"/>
          </p:nvPr>
        </p:nvSpPr>
        <p:spPr/>
        <p:txBody>
          <a:bodyPr/>
          <a:lstStyle/>
          <a:p>
            <a:r>
              <a:rPr lang="en-US" dirty="0"/>
              <a:t>Success story of Honda Activa </a:t>
            </a:r>
          </a:p>
        </p:txBody>
      </p:sp>
      <p:pic>
        <p:nvPicPr>
          <p:cNvPr id="5" name="Picture 4">
            <a:extLst>
              <a:ext uri="{FF2B5EF4-FFF2-40B4-BE49-F238E27FC236}">
                <a16:creationId xmlns:a16="http://schemas.microsoft.com/office/drawing/2014/main" id="{2A731DED-345F-4344-8831-2B902C0BCA5B}"/>
              </a:ext>
            </a:extLst>
          </p:cNvPr>
          <p:cNvPicPr>
            <a:picLocks noChangeAspect="1"/>
          </p:cNvPicPr>
          <p:nvPr/>
        </p:nvPicPr>
        <p:blipFill>
          <a:blip r:embed="rId2"/>
          <a:stretch>
            <a:fillRect/>
          </a:stretch>
        </p:blipFill>
        <p:spPr>
          <a:xfrm>
            <a:off x="0" y="1781926"/>
            <a:ext cx="8363824" cy="4710949"/>
          </a:xfrm>
          <a:prstGeom prst="rect">
            <a:avLst/>
          </a:prstGeom>
        </p:spPr>
      </p:pic>
      <p:sp>
        <p:nvSpPr>
          <p:cNvPr id="6" name="TextBox 5">
            <a:extLst>
              <a:ext uri="{FF2B5EF4-FFF2-40B4-BE49-F238E27FC236}">
                <a16:creationId xmlns:a16="http://schemas.microsoft.com/office/drawing/2014/main" id="{10D20823-8F71-4E0F-B7E2-3C578F12BE9C}"/>
              </a:ext>
            </a:extLst>
          </p:cNvPr>
          <p:cNvSpPr txBox="1"/>
          <p:nvPr/>
        </p:nvSpPr>
        <p:spPr>
          <a:xfrm>
            <a:off x="8523215" y="1820411"/>
            <a:ext cx="3112315" cy="3662541"/>
          </a:xfrm>
          <a:prstGeom prst="rect">
            <a:avLst/>
          </a:prstGeom>
          <a:noFill/>
        </p:spPr>
        <p:txBody>
          <a:bodyPr wrap="square" rtlCol="0">
            <a:spAutoFit/>
          </a:bodyPr>
          <a:lstStyle/>
          <a:p>
            <a:pPr marL="285750" indent="-285750">
              <a:buFont typeface="Arial" panose="020B0604020202020204" pitchFamily="34" charset="0"/>
              <a:buChar char="•"/>
            </a:pPr>
            <a:r>
              <a:rPr lang="en-US" sz="2800" dirty="0"/>
              <a:t>Launched in June 2001</a:t>
            </a:r>
          </a:p>
          <a:p>
            <a:pPr marL="285750" indent="-285750">
              <a:buFont typeface="Arial" panose="020B0604020202020204" pitchFamily="34" charset="0"/>
              <a:buChar char="•"/>
            </a:pPr>
            <a:r>
              <a:rPr lang="en-US" sz="2800" dirty="0"/>
              <a:t>One of the Top Selling Two Wheler</a:t>
            </a:r>
          </a:p>
          <a:p>
            <a:pPr marL="285750" indent="-285750">
              <a:buFont typeface="Arial" panose="020B0604020202020204" pitchFamily="34" charset="0"/>
              <a:buChar char="•"/>
            </a:pPr>
            <a:r>
              <a:rPr lang="en-US" sz="2800" dirty="0"/>
              <a:t>Crossed Over one Crore sales mark </a:t>
            </a:r>
          </a:p>
          <a:p>
            <a:r>
              <a:rPr lang="en-US" dirty="0"/>
              <a:t> </a:t>
            </a:r>
          </a:p>
          <a:p>
            <a:endParaRPr lang="en-US" dirty="0"/>
          </a:p>
        </p:txBody>
      </p:sp>
    </p:spTree>
    <p:extLst>
      <p:ext uri="{BB962C8B-B14F-4D97-AF65-F5344CB8AC3E}">
        <p14:creationId xmlns:p14="http://schemas.microsoft.com/office/powerpoint/2010/main" val="3089501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813AA-E69F-4F16-99A7-9493C5DC1F2B}"/>
              </a:ext>
            </a:extLst>
          </p:cNvPr>
          <p:cNvSpPr>
            <a:spLocks noGrp="1"/>
          </p:cNvSpPr>
          <p:nvPr>
            <p:ph type="title"/>
          </p:nvPr>
        </p:nvSpPr>
        <p:spPr/>
        <p:txBody>
          <a:bodyPr/>
          <a:lstStyle/>
          <a:p>
            <a:r>
              <a:rPr lang="en-US" dirty="0"/>
              <a:t>Sensing the Opportunity </a:t>
            </a:r>
          </a:p>
        </p:txBody>
      </p:sp>
      <p:sp>
        <p:nvSpPr>
          <p:cNvPr id="3" name="Content Placeholder 2">
            <a:extLst>
              <a:ext uri="{FF2B5EF4-FFF2-40B4-BE49-F238E27FC236}">
                <a16:creationId xmlns:a16="http://schemas.microsoft.com/office/drawing/2014/main" id="{D24B4F05-D0B9-42EE-B2F0-9F82DD6275F1}"/>
              </a:ext>
            </a:extLst>
          </p:cNvPr>
          <p:cNvSpPr>
            <a:spLocks noGrp="1"/>
          </p:cNvSpPr>
          <p:nvPr>
            <p:ph idx="1"/>
          </p:nvPr>
        </p:nvSpPr>
        <p:spPr/>
        <p:txBody>
          <a:bodyPr/>
          <a:lstStyle/>
          <a:p>
            <a:r>
              <a:rPr lang="en-US" sz="3600" dirty="0"/>
              <a:t>Transportation Need of All Family Members </a:t>
            </a:r>
          </a:p>
          <a:p>
            <a:r>
              <a:rPr lang="en-US" sz="3600" dirty="0"/>
              <a:t>Indians Prefer Manageable Size Scooters</a:t>
            </a:r>
          </a:p>
          <a:p>
            <a:r>
              <a:rPr lang="en-US" sz="3600" dirty="0"/>
              <a:t>Traffic Congestion in the cities is rising </a:t>
            </a:r>
          </a:p>
          <a:p>
            <a:r>
              <a:rPr lang="en-US" sz="3600" dirty="0"/>
              <a:t>Limited parking space in traditional shopping areas </a:t>
            </a:r>
          </a:p>
          <a:p>
            <a:r>
              <a:rPr lang="en-US" sz="3600" dirty="0"/>
              <a:t>Low maintenance and comparable fuel economy </a:t>
            </a:r>
          </a:p>
          <a:p>
            <a:pPr marL="0" indent="0">
              <a:buNone/>
            </a:pPr>
            <a:endParaRPr lang="en-US" dirty="0"/>
          </a:p>
          <a:p>
            <a:pPr marL="0" indent="0">
              <a:buNone/>
            </a:pPr>
            <a:r>
              <a:rPr lang="en-US" dirty="0"/>
              <a:t> </a:t>
            </a:r>
          </a:p>
        </p:txBody>
      </p:sp>
    </p:spTree>
    <p:extLst>
      <p:ext uri="{BB962C8B-B14F-4D97-AF65-F5344CB8AC3E}">
        <p14:creationId xmlns:p14="http://schemas.microsoft.com/office/powerpoint/2010/main" val="3320550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C97DB-EAC9-4D24-8EF7-99D128B06EEC}"/>
              </a:ext>
            </a:extLst>
          </p:cNvPr>
          <p:cNvSpPr>
            <a:spLocks noGrp="1"/>
          </p:cNvSpPr>
          <p:nvPr>
            <p:ph type="title"/>
          </p:nvPr>
        </p:nvSpPr>
        <p:spPr/>
        <p:txBody>
          <a:bodyPr/>
          <a:lstStyle/>
          <a:p>
            <a:r>
              <a:rPr lang="en-US" dirty="0"/>
              <a:t>Honda Activa : Success ingredients </a:t>
            </a:r>
          </a:p>
        </p:txBody>
      </p:sp>
      <p:sp>
        <p:nvSpPr>
          <p:cNvPr id="3" name="Content Placeholder 2">
            <a:extLst>
              <a:ext uri="{FF2B5EF4-FFF2-40B4-BE49-F238E27FC236}">
                <a16:creationId xmlns:a16="http://schemas.microsoft.com/office/drawing/2014/main" id="{EFCFC703-533F-46DB-AA43-CE5196B9C9F4}"/>
              </a:ext>
            </a:extLst>
          </p:cNvPr>
          <p:cNvSpPr>
            <a:spLocks noGrp="1"/>
          </p:cNvSpPr>
          <p:nvPr>
            <p:ph idx="1"/>
          </p:nvPr>
        </p:nvSpPr>
        <p:spPr/>
        <p:txBody>
          <a:bodyPr/>
          <a:lstStyle/>
          <a:p>
            <a:r>
              <a:rPr lang="en-US" dirty="0"/>
              <a:t>Attractive to both male and female </a:t>
            </a:r>
          </a:p>
          <a:p>
            <a:r>
              <a:rPr lang="en-US" dirty="0"/>
              <a:t>Easy handling: Engine Gearless and button start </a:t>
            </a:r>
          </a:p>
          <a:p>
            <a:r>
              <a:rPr lang="en-US" dirty="0"/>
              <a:t>Smaller in size as compare to a motorcycle </a:t>
            </a:r>
          </a:p>
          <a:p>
            <a:r>
              <a:rPr lang="en-US" dirty="0"/>
              <a:t>Lot of Storage Space (under the seat and front bucket)</a:t>
            </a:r>
          </a:p>
          <a:p>
            <a:r>
              <a:rPr lang="en-US" dirty="0"/>
              <a:t>Anti-theft Locking </a:t>
            </a:r>
          </a:p>
          <a:p>
            <a:r>
              <a:rPr lang="en-US" dirty="0"/>
              <a:t>Competitive Pricing </a:t>
            </a:r>
          </a:p>
          <a:p>
            <a:pPr marL="0" indent="0">
              <a:buNone/>
            </a:pPr>
            <a:endParaRPr lang="en-US" dirty="0"/>
          </a:p>
        </p:txBody>
      </p:sp>
    </p:spTree>
    <p:extLst>
      <p:ext uri="{BB962C8B-B14F-4D97-AF65-F5344CB8AC3E}">
        <p14:creationId xmlns:p14="http://schemas.microsoft.com/office/powerpoint/2010/main" val="3912263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91131-E8D6-4538-8D4A-B0461F6989AC}"/>
              </a:ext>
            </a:extLst>
          </p:cNvPr>
          <p:cNvSpPr>
            <a:spLocks noGrp="1"/>
          </p:cNvSpPr>
          <p:nvPr>
            <p:ph type="title"/>
          </p:nvPr>
        </p:nvSpPr>
        <p:spPr/>
        <p:txBody>
          <a:bodyPr/>
          <a:lstStyle/>
          <a:p>
            <a:r>
              <a:rPr lang="en-US" dirty="0"/>
              <a:t>Tata Nano </a:t>
            </a:r>
          </a:p>
        </p:txBody>
      </p:sp>
      <p:pic>
        <p:nvPicPr>
          <p:cNvPr id="9218" name="Picture 2" descr="Tata Nano: A vision for affordable mobility that failed to win hearts -  India Today">
            <a:extLst>
              <a:ext uri="{FF2B5EF4-FFF2-40B4-BE49-F238E27FC236}">
                <a16:creationId xmlns:a16="http://schemas.microsoft.com/office/drawing/2014/main" id="{04215108-61D3-4C3C-A84B-FB937F2E47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4163" y="1279102"/>
            <a:ext cx="5063673" cy="5063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6132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161DC-E4B1-41B4-89AB-3E25F369CC8F}"/>
              </a:ext>
            </a:extLst>
          </p:cNvPr>
          <p:cNvSpPr>
            <a:spLocks noGrp="1"/>
          </p:cNvSpPr>
          <p:nvPr>
            <p:ph type="title"/>
          </p:nvPr>
        </p:nvSpPr>
        <p:spPr/>
        <p:txBody>
          <a:bodyPr/>
          <a:lstStyle/>
          <a:p>
            <a:r>
              <a:rPr lang="en-US" dirty="0"/>
              <a:t>Tata Nano : World’s cheapest Car</a:t>
            </a:r>
          </a:p>
        </p:txBody>
      </p:sp>
      <p:sp>
        <p:nvSpPr>
          <p:cNvPr id="3" name="Content Placeholder 2">
            <a:extLst>
              <a:ext uri="{FF2B5EF4-FFF2-40B4-BE49-F238E27FC236}">
                <a16:creationId xmlns:a16="http://schemas.microsoft.com/office/drawing/2014/main" id="{82BFCEC3-62CA-48EC-8654-0D922ED5EFC1}"/>
              </a:ext>
            </a:extLst>
          </p:cNvPr>
          <p:cNvSpPr>
            <a:spLocks noGrp="1"/>
          </p:cNvSpPr>
          <p:nvPr>
            <p:ph idx="1"/>
          </p:nvPr>
        </p:nvSpPr>
        <p:spPr>
          <a:xfrm>
            <a:off x="662031" y="1615900"/>
            <a:ext cx="10515600" cy="4351338"/>
          </a:xfrm>
        </p:spPr>
        <p:txBody>
          <a:bodyPr/>
          <a:lstStyle/>
          <a:p>
            <a:r>
              <a:rPr lang="en-US" dirty="0"/>
              <a:t>Launched in 2009 at price less than $2500 </a:t>
            </a:r>
          </a:p>
          <a:p>
            <a:pPr marL="0" indent="0">
              <a:buNone/>
            </a:pPr>
            <a:r>
              <a:rPr lang="en-US" dirty="0"/>
              <a:t>(original Target : Rs 1 Lakh) </a:t>
            </a:r>
          </a:p>
          <a:p>
            <a:r>
              <a:rPr lang="en-US" dirty="0"/>
              <a:t>To make Motoring available to masses in developing countries </a:t>
            </a:r>
          </a:p>
          <a:p>
            <a:r>
              <a:rPr lang="en-US" dirty="0"/>
              <a:t>Launched as People’s Car </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5969363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3DC70CA-A4E5-4EDF-8A34-B224D0404AA4}"/>
              </a:ext>
            </a:extLst>
          </p:cNvPr>
          <p:cNvSpPr txBox="1"/>
          <p:nvPr/>
        </p:nvSpPr>
        <p:spPr>
          <a:xfrm>
            <a:off x="662730" y="2164360"/>
            <a:ext cx="11325137" cy="923330"/>
          </a:xfrm>
          <a:prstGeom prst="rect">
            <a:avLst/>
          </a:prstGeom>
          <a:noFill/>
        </p:spPr>
        <p:txBody>
          <a:bodyPr wrap="square" rtlCol="0">
            <a:spAutoFit/>
          </a:bodyPr>
          <a:lstStyle/>
          <a:p>
            <a:r>
              <a:rPr lang="en-US" dirty="0"/>
              <a:t>“It (nano) became termed as a cheapest car by the public and, I am sorry to say, by ourselves, not by me, but the company when it was marketing it. I think that is unfortunate.” </a:t>
            </a:r>
          </a:p>
          <a:p>
            <a:r>
              <a:rPr lang="en-US" dirty="0"/>
              <a:t>						(Ratan Tata, 28 Nov. 2013, CNBC) </a:t>
            </a:r>
          </a:p>
        </p:txBody>
      </p:sp>
    </p:spTree>
    <p:extLst>
      <p:ext uri="{BB962C8B-B14F-4D97-AF65-F5344CB8AC3E}">
        <p14:creationId xmlns:p14="http://schemas.microsoft.com/office/powerpoint/2010/main" val="3303040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549C0-29AB-4A83-A204-53C30E9A2BCF}"/>
              </a:ext>
            </a:extLst>
          </p:cNvPr>
          <p:cNvSpPr>
            <a:spLocks noGrp="1"/>
          </p:cNvSpPr>
          <p:nvPr>
            <p:ph type="title"/>
          </p:nvPr>
        </p:nvSpPr>
        <p:spPr/>
        <p:txBody>
          <a:bodyPr/>
          <a:lstStyle/>
          <a:p>
            <a:r>
              <a:rPr lang="en-US" dirty="0"/>
              <a:t>Evolution of Marketing </a:t>
            </a:r>
          </a:p>
        </p:txBody>
      </p:sp>
      <p:sp>
        <p:nvSpPr>
          <p:cNvPr id="4" name="Rectangle 3">
            <a:extLst>
              <a:ext uri="{FF2B5EF4-FFF2-40B4-BE49-F238E27FC236}">
                <a16:creationId xmlns:a16="http://schemas.microsoft.com/office/drawing/2014/main" id="{91B8837A-680E-4FC2-A2A4-3D52B574F73B}"/>
              </a:ext>
            </a:extLst>
          </p:cNvPr>
          <p:cNvSpPr/>
          <p:nvPr/>
        </p:nvSpPr>
        <p:spPr>
          <a:xfrm>
            <a:off x="1152939" y="3309730"/>
            <a:ext cx="2345635" cy="7553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Production Focus</a:t>
            </a:r>
          </a:p>
        </p:txBody>
      </p:sp>
      <p:sp>
        <p:nvSpPr>
          <p:cNvPr id="5" name="Rectangle 4">
            <a:extLst>
              <a:ext uri="{FF2B5EF4-FFF2-40B4-BE49-F238E27FC236}">
                <a16:creationId xmlns:a16="http://schemas.microsoft.com/office/drawing/2014/main" id="{83647F93-DC4E-4AEB-9E90-0BEA58CBF197}"/>
              </a:ext>
            </a:extLst>
          </p:cNvPr>
          <p:cNvSpPr/>
          <p:nvPr/>
        </p:nvSpPr>
        <p:spPr>
          <a:xfrm>
            <a:off x="3803374" y="3309730"/>
            <a:ext cx="2345635" cy="7553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Product Concept</a:t>
            </a:r>
          </a:p>
        </p:txBody>
      </p:sp>
      <p:sp>
        <p:nvSpPr>
          <p:cNvPr id="6" name="Rectangle 5">
            <a:extLst>
              <a:ext uri="{FF2B5EF4-FFF2-40B4-BE49-F238E27FC236}">
                <a16:creationId xmlns:a16="http://schemas.microsoft.com/office/drawing/2014/main" id="{9052BD9B-611F-445A-B9EE-1D9023C06AEE}"/>
              </a:ext>
            </a:extLst>
          </p:cNvPr>
          <p:cNvSpPr/>
          <p:nvPr/>
        </p:nvSpPr>
        <p:spPr>
          <a:xfrm>
            <a:off x="6453809" y="3309730"/>
            <a:ext cx="2345635" cy="7553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Selling</a:t>
            </a:r>
          </a:p>
        </p:txBody>
      </p:sp>
      <p:sp>
        <p:nvSpPr>
          <p:cNvPr id="7" name="Rectangle 6">
            <a:extLst>
              <a:ext uri="{FF2B5EF4-FFF2-40B4-BE49-F238E27FC236}">
                <a16:creationId xmlns:a16="http://schemas.microsoft.com/office/drawing/2014/main" id="{A6624580-0FD6-41B6-B8D2-74625FEACB1F}"/>
              </a:ext>
            </a:extLst>
          </p:cNvPr>
          <p:cNvSpPr/>
          <p:nvPr/>
        </p:nvSpPr>
        <p:spPr>
          <a:xfrm>
            <a:off x="9104244" y="3309730"/>
            <a:ext cx="2345635" cy="7553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Marketing</a:t>
            </a:r>
          </a:p>
        </p:txBody>
      </p:sp>
      <p:sp>
        <p:nvSpPr>
          <p:cNvPr id="8" name="Rectangle 7">
            <a:extLst>
              <a:ext uri="{FF2B5EF4-FFF2-40B4-BE49-F238E27FC236}">
                <a16:creationId xmlns:a16="http://schemas.microsoft.com/office/drawing/2014/main" id="{46E35CF3-D7D6-408C-BE30-3A588CB251C3}"/>
              </a:ext>
            </a:extLst>
          </p:cNvPr>
          <p:cNvSpPr/>
          <p:nvPr/>
        </p:nvSpPr>
        <p:spPr>
          <a:xfrm>
            <a:off x="9187070" y="4674704"/>
            <a:ext cx="2345635" cy="7553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Market Orientation</a:t>
            </a:r>
          </a:p>
        </p:txBody>
      </p:sp>
      <p:sp>
        <p:nvSpPr>
          <p:cNvPr id="9" name="Rectangle 8">
            <a:extLst>
              <a:ext uri="{FF2B5EF4-FFF2-40B4-BE49-F238E27FC236}">
                <a16:creationId xmlns:a16="http://schemas.microsoft.com/office/drawing/2014/main" id="{5AAB39FB-BCD4-450B-A4EB-E71819959266}"/>
              </a:ext>
            </a:extLst>
          </p:cNvPr>
          <p:cNvSpPr/>
          <p:nvPr/>
        </p:nvSpPr>
        <p:spPr>
          <a:xfrm>
            <a:off x="6592957" y="4674704"/>
            <a:ext cx="2345635" cy="7553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Holistic Marketing</a:t>
            </a:r>
          </a:p>
        </p:txBody>
      </p:sp>
    </p:spTree>
    <p:extLst>
      <p:ext uri="{BB962C8B-B14F-4D97-AF65-F5344CB8AC3E}">
        <p14:creationId xmlns:p14="http://schemas.microsoft.com/office/powerpoint/2010/main" val="17910298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9F2F5E4-35F9-487E-86FC-566B379EE4D5}"/>
              </a:ext>
            </a:extLst>
          </p:cNvPr>
          <p:cNvPicPr>
            <a:picLocks noChangeAspect="1"/>
          </p:cNvPicPr>
          <p:nvPr/>
        </p:nvPicPr>
        <p:blipFill>
          <a:blip r:embed="rId2"/>
          <a:stretch>
            <a:fillRect/>
          </a:stretch>
        </p:blipFill>
        <p:spPr>
          <a:xfrm>
            <a:off x="3810000" y="0"/>
            <a:ext cx="4572000" cy="6858000"/>
          </a:xfrm>
          <a:prstGeom prst="rect">
            <a:avLst/>
          </a:prstGeom>
        </p:spPr>
      </p:pic>
    </p:spTree>
    <p:extLst>
      <p:ext uri="{BB962C8B-B14F-4D97-AF65-F5344CB8AC3E}">
        <p14:creationId xmlns:p14="http://schemas.microsoft.com/office/powerpoint/2010/main" val="2958488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E90D5FA0-087D-42B7-B1B6-2E9610DB0615}"/>
              </a:ext>
            </a:extLst>
          </p:cNvPr>
          <p:cNvSpPr>
            <a:spLocks noChangeArrowheads="1"/>
          </p:cNvSpPr>
          <p:nvPr/>
        </p:nvSpPr>
        <p:spPr bwMode="auto">
          <a:xfrm>
            <a:off x="5476461" y="639923"/>
            <a:ext cx="6569765" cy="2905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8700" rIns="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fkGrotesk"/>
              </a:rPr>
              <a:t>Marketing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fkGroteskNeue"/>
              </a:rPr>
              <a:t>"Marketing is the activity, set of institutions, and processes for creating, communicating, delivering, and exchanging offerings that have value for customers, clients, partners, and society at large." (Approved 2017)</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1B125259-42B9-437D-B156-0361812CAB28}"/>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a:extLst>
              <a:ext uri="{FF2B5EF4-FFF2-40B4-BE49-F238E27FC236}">
                <a16:creationId xmlns:a16="http://schemas.microsoft.com/office/drawing/2014/main" id="{958A4349-66EC-4434-8791-D2D40C58E0F8}"/>
              </a:ext>
            </a:extLst>
          </p:cNvPr>
          <p:cNvSpPr>
            <a:spLocks noChangeArrowheads="1"/>
          </p:cNvSpPr>
          <p:nvPr/>
        </p:nvSpPr>
        <p:spPr bwMode="auto">
          <a:xfrm>
            <a:off x="530087" y="2794800"/>
            <a:ext cx="7918174"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fkGrotesk"/>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fkGrotesk"/>
              </a:rPr>
              <a:t>Innovation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fkGroteskNeue"/>
              </a:rPr>
              <a:t>"An innovation is a new or improved product or process (or combination thereof) that differs significantly from the unit’s previous products or processes and that has been made available to potential users (product) or brought into use by the unit (process)."</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72713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064A8B-C2C2-4BA0-BF8D-5BBB86C8310F}"/>
              </a:ext>
            </a:extLst>
          </p:cNvPr>
          <p:cNvSpPr>
            <a:spLocks noGrp="1"/>
          </p:cNvSpPr>
          <p:nvPr>
            <p:ph idx="1"/>
          </p:nvPr>
        </p:nvSpPr>
        <p:spPr/>
        <p:txBody>
          <a:bodyPr/>
          <a:lstStyle/>
          <a:p>
            <a:pPr marL="0" indent="0">
              <a:buNone/>
            </a:pPr>
            <a:r>
              <a:rPr lang="en-US" dirty="0"/>
              <a:t>“A business enterprise has two ad only two basic functions : </a:t>
            </a:r>
          </a:p>
          <a:p>
            <a:pPr marL="0" indent="0">
              <a:buNone/>
            </a:pPr>
            <a:r>
              <a:rPr lang="en-US" dirty="0"/>
              <a:t>Marketing &amp; Innovation” </a:t>
            </a:r>
          </a:p>
          <a:p>
            <a:pPr marL="0" indent="0">
              <a:buNone/>
            </a:pPr>
            <a:r>
              <a:rPr lang="en-US" dirty="0"/>
              <a:t>- Peter Drucker</a:t>
            </a:r>
          </a:p>
        </p:txBody>
      </p:sp>
    </p:spTree>
    <p:extLst>
      <p:ext uri="{BB962C8B-B14F-4D97-AF65-F5344CB8AC3E}">
        <p14:creationId xmlns:p14="http://schemas.microsoft.com/office/powerpoint/2010/main" val="149497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EFAF5E-C0D2-47DB-BD72-6FD8A873E93B}"/>
              </a:ext>
            </a:extLst>
          </p:cNvPr>
          <p:cNvPicPr>
            <a:picLocks noChangeAspect="1"/>
          </p:cNvPicPr>
          <p:nvPr/>
        </p:nvPicPr>
        <p:blipFill>
          <a:blip r:embed="rId2"/>
          <a:stretch>
            <a:fillRect/>
          </a:stretch>
        </p:blipFill>
        <p:spPr>
          <a:xfrm>
            <a:off x="1182756" y="0"/>
            <a:ext cx="9177131" cy="6396182"/>
          </a:xfrm>
          <a:prstGeom prst="rect">
            <a:avLst/>
          </a:prstGeom>
        </p:spPr>
      </p:pic>
    </p:spTree>
    <p:extLst>
      <p:ext uri="{BB962C8B-B14F-4D97-AF65-F5344CB8AC3E}">
        <p14:creationId xmlns:p14="http://schemas.microsoft.com/office/powerpoint/2010/main" val="31108326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F43EA-5C0A-4585-B12D-6649DDEE2986}"/>
              </a:ext>
            </a:extLst>
          </p:cNvPr>
          <p:cNvSpPr>
            <a:spLocks noGrp="1"/>
          </p:cNvSpPr>
          <p:nvPr>
            <p:ph type="title"/>
          </p:nvPr>
        </p:nvSpPr>
        <p:spPr>
          <a:xfrm>
            <a:off x="172278" y="-22501"/>
            <a:ext cx="10515600" cy="1325563"/>
          </a:xfrm>
        </p:spPr>
        <p:txBody>
          <a:bodyPr/>
          <a:lstStyle/>
          <a:p>
            <a:r>
              <a:rPr lang="en-US" dirty="0"/>
              <a:t>Innovation in Design </a:t>
            </a:r>
          </a:p>
        </p:txBody>
      </p:sp>
      <p:pic>
        <p:nvPicPr>
          <p:cNvPr id="3074" name="Picture 2" descr="A person points an iPad screen at a grey sofa and wood table in a room. The wall is blue/green.">
            <a:extLst>
              <a:ext uri="{FF2B5EF4-FFF2-40B4-BE49-F238E27FC236}">
                <a16:creationId xmlns:a16="http://schemas.microsoft.com/office/drawing/2014/main" id="{87B06AD8-F527-4127-9254-9A02199C40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78" y="1024767"/>
            <a:ext cx="5972175" cy="5715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B55B971-B84A-41A8-B4C4-232ECE8E2BE1}"/>
              </a:ext>
            </a:extLst>
          </p:cNvPr>
          <p:cNvSpPr txBox="1"/>
          <p:nvPr/>
        </p:nvSpPr>
        <p:spPr>
          <a:xfrm>
            <a:off x="6798365" y="640280"/>
            <a:ext cx="5019261" cy="3416320"/>
          </a:xfrm>
          <a:prstGeom prst="rect">
            <a:avLst/>
          </a:prstGeom>
          <a:noFill/>
        </p:spPr>
        <p:txBody>
          <a:bodyPr wrap="square" rtlCol="0">
            <a:spAutoFit/>
          </a:bodyPr>
          <a:lstStyle/>
          <a:p>
            <a:r>
              <a:rPr lang="en-US" sz="3600" dirty="0"/>
              <a:t>IKEA bright in design innovation by brining in their customers through co-creative activities and easily assembled furniture.  </a:t>
            </a:r>
          </a:p>
        </p:txBody>
      </p:sp>
    </p:spTree>
    <p:extLst>
      <p:ext uri="{BB962C8B-B14F-4D97-AF65-F5344CB8AC3E}">
        <p14:creationId xmlns:p14="http://schemas.microsoft.com/office/powerpoint/2010/main" val="34055895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4DB35-BFB8-4FD7-A6E1-C07FF80E8608}"/>
              </a:ext>
            </a:extLst>
          </p:cNvPr>
          <p:cNvSpPr>
            <a:spLocks noGrp="1"/>
          </p:cNvSpPr>
          <p:nvPr>
            <p:ph type="title"/>
          </p:nvPr>
        </p:nvSpPr>
        <p:spPr/>
        <p:txBody>
          <a:bodyPr/>
          <a:lstStyle/>
          <a:p>
            <a:r>
              <a:rPr lang="en-US" dirty="0"/>
              <a:t>Innovation in Promotion</a:t>
            </a:r>
          </a:p>
        </p:txBody>
      </p:sp>
      <p:sp>
        <p:nvSpPr>
          <p:cNvPr id="6" name="AutoShape 2">
            <a:extLst>
              <a:ext uri="{FF2B5EF4-FFF2-40B4-BE49-F238E27FC236}">
                <a16:creationId xmlns:a16="http://schemas.microsoft.com/office/drawing/2014/main" id="{D414356D-E68D-4452-BFC3-1A46E0CA06C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388E3618-8FE5-4198-99C1-35E2192C13A9}"/>
              </a:ext>
            </a:extLst>
          </p:cNvPr>
          <p:cNvPicPr>
            <a:picLocks noChangeAspect="1"/>
          </p:cNvPicPr>
          <p:nvPr/>
        </p:nvPicPr>
        <p:blipFill>
          <a:blip r:embed="rId2"/>
          <a:stretch>
            <a:fillRect/>
          </a:stretch>
        </p:blipFill>
        <p:spPr>
          <a:xfrm>
            <a:off x="43070" y="1298683"/>
            <a:ext cx="8203102" cy="5440047"/>
          </a:xfrm>
          <a:prstGeom prst="rect">
            <a:avLst/>
          </a:prstGeom>
        </p:spPr>
      </p:pic>
    </p:spTree>
    <p:extLst>
      <p:ext uri="{BB962C8B-B14F-4D97-AF65-F5344CB8AC3E}">
        <p14:creationId xmlns:p14="http://schemas.microsoft.com/office/powerpoint/2010/main" val="16043727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12015</TotalTime>
  <Words>556</Words>
  <Application>Microsoft Office PowerPoint</Application>
  <PresentationFormat>Widescreen</PresentationFormat>
  <Paragraphs>106</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fkGrotesk</vt:lpstr>
      <vt:lpstr>fkGroteskNeue</vt:lpstr>
      <vt:lpstr>Office Theme</vt:lpstr>
      <vt:lpstr>Marketing Management </vt:lpstr>
      <vt:lpstr>What is Marketing ? </vt:lpstr>
      <vt:lpstr>Exchange of Value </vt:lpstr>
      <vt:lpstr>Conditions for Exchange Potential</vt:lpstr>
      <vt:lpstr>Value </vt:lpstr>
      <vt:lpstr>PowerPoint Presentation</vt:lpstr>
      <vt:lpstr>Definition from American Marketing Association </vt:lpstr>
      <vt:lpstr>PowerPoint Presentation</vt:lpstr>
      <vt:lpstr>Simple Marketing System </vt:lpstr>
      <vt:lpstr>Marketing Vs Sales </vt:lpstr>
      <vt:lpstr>Core Concepts in Marketing </vt:lpstr>
      <vt:lpstr>Strategic Marketing Process</vt:lpstr>
      <vt:lpstr>PowerPoint Presentation</vt:lpstr>
      <vt:lpstr>PowerPoint Presentation</vt:lpstr>
      <vt:lpstr>Success story of Honda Activa </vt:lpstr>
      <vt:lpstr>Sensing the Opportunity </vt:lpstr>
      <vt:lpstr>Honda Activa : Success ingredients </vt:lpstr>
      <vt:lpstr>Tata Nano </vt:lpstr>
      <vt:lpstr>Tata Nano : World’s cheapest Car</vt:lpstr>
      <vt:lpstr>PowerPoint Presentation</vt:lpstr>
      <vt:lpstr>Evolution of Marketing </vt:lpstr>
      <vt:lpstr>PowerPoint Presentation</vt:lpstr>
      <vt:lpstr>PowerPoint Presentation</vt:lpstr>
      <vt:lpstr>PowerPoint Presentation</vt:lpstr>
      <vt:lpstr>PowerPoint Presentation</vt:lpstr>
      <vt:lpstr>Innovation in Design </vt:lpstr>
      <vt:lpstr>Innovation in Promotion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Management</dc:title>
  <dc:creator>Rijul Chaturvedi</dc:creator>
  <cp:lastModifiedBy>Rijul Chaturvedi</cp:lastModifiedBy>
  <cp:revision>21</cp:revision>
  <dcterms:created xsi:type="dcterms:W3CDTF">2025-10-29T07:13:01Z</dcterms:created>
  <dcterms:modified xsi:type="dcterms:W3CDTF">2025-11-11T06:01:49Z</dcterms:modified>
</cp:coreProperties>
</file>