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60" r:id="rId20"/>
    <p:sldId id="262" r:id="rId21"/>
    <p:sldId id="263" r:id="rId22"/>
    <p:sldId id="264" r:id="rId23"/>
    <p:sldId id="282" r:id="rId24"/>
    <p:sldId id="265" r:id="rId25"/>
    <p:sldId id="266" r:id="rId26"/>
    <p:sldId id="267" r:id="rId27"/>
    <p:sldId id="283" r:id="rId28"/>
  </p:sldIdLst>
  <p:sldSz cx="14630400" cy="8229600"/>
  <p:notesSz cx="8229600" cy="146304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Garamond" panose="02020404030301010803" pitchFamily="18" charset="0"/>
      <p:regular r:id="rId38"/>
      <p:bold r:id="rId39"/>
      <p:italic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6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631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737361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050" y="2509516"/>
            <a:ext cx="10882303" cy="310896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8640" b="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4520" y="5618475"/>
            <a:ext cx="10885018" cy="54864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920" spc="96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1920"/>
            </a:lvl2pPr>
            <a:lvl3pPr marL="1097280" indent="0" algn="ctr">
              <a:buNone/>
              <a:defRPr sz="192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6382512" y="1609506"/>
            <a:ext cx="1865376" cy="632656"/>
          </a:xfrm>
        </p:spPr>
        <p:txBody>
          <a:bodyPr/>
          <a:lstStyle>
            <a:lvl1pPr algn="ctr">
              <a:defRPr sz="156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744675" y="6253272"/>
            <a:ext cx="7086600" cy="27432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10328304" y="6254496"/>
            <a:ext cx="2534257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18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413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569444" y="1521276"/>
            <a:ext cx="11491514" cy="516954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737360" y="1693938"/>
            <a:ext cx="11155680" cy="484172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6163056" y="1521276"/>
            <a:ext cx="2304288" cy="8778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6300216" y="1521277"/>
            <a:ext cx="2029968" cy="774354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6347" y="2513171"/>
            <a:ext cx="10885018" cy="310530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8640" kern="1200" cap="all" spc="-12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6349" y="5618474"/>
            <a:ext cx="10885018" cy="548640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>
                <a:solidFill>
                  <a:schemeClr val="tx1"/>
                </a:solidFill>
                <a:effectLst/>
              </a:defRPr>
            </a:lvl1pPr>
            <a:lvl2pPr marL="5486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86170" y="1613403"/>
            <a:ext cx="1865376" cy="636422"/>
          </a:xfrm>
        </p:spPr>
        <p:txBody>
          <a:bodyPr/>
          <a:lstStyle>
            <a:lvl1pPr algn="ctr">
              <a:defRPr lang="en-US" sz="156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4264" y="6253272"/>
            <a:ext cx="7088429" cy="27432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5405" y="6253272"/>
            <a:ext cx="2534717" cy="274320"/>
          </a:xfrm>
        </p:spPr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97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44384" y="2523744"/>
            <a:ext cx="5705856" cy="4498848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770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3818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  <a:latin typeface="+mn-lt"/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3818" y="3307078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48042" y="2489201"/>
            <a:ext cx="5705856" cy="76809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280" b="0">
                <a:solidFill>
                  <a:schemeClr val="tx2"/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48042" y="3307897"/>
            <a:ext cx="5705856" cy="384048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863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238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002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94635" y="285293"/>
            <a:ext cx="10237622" cy="765901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8870"/>
            <a:ext cx="2916936" cy="1975104"/>
          </a:xfrm>
        </p:spPr>
        <p:txBody>
          <a:bodyPr anchor="b">
            <a:normAutofit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6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731520"/>
            <a:ext cx="9326880" cy="6400800"/>
          </a:xfrm>
        </p:spPr>
        <p:txBody>
          <a:bodyPr/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6936" cy="420624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2472412" y="7467602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580084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824463" y="285293"/>
            <a:ext cx="3511296" cy="7659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0" y="724205"/>
            <a:ext cx="2918765" cy="1975104"/>
          </a:xfrm>
        </p:spPr>
        <p:txBody>
          <a:bodyPr anchor="b">
            <a:noAutofit/>
          </a:bodyPr>
          <a:lstStyle>
            <a:lvl1pPr algn="l">
              <a:defRPr sz="336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4319" y="285293"/>
            <a:ext cx="10237622" cy="765901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0" y="2743200"/>
            <a:ext cx="2918765" cy="420258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960"/>
              </a:spcBef>
              <a:buNone/>
              <a:defRPr sz="168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1097280" rtl="0" eaLnBrk="1" latinLnBrk="0" hangingPunct="1">
              <a:defRPr lang="en-US" sz="12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476074" y="7472477"/>
            <a:ext cx="1755648" cy="32918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989055" y="449885"/>
            <a:ext cx="3182112" cy="732983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93521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722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89920" y="914400"/>
            <a:ext cx="2834640" cy="63093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914400"/>
            <a:ext cx="9692640" cy="63093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011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515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695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645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514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785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315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424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4318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262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062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34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1635" y="285293"/>
            <a:ext cx="14067130" cy="765901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771113"/>
            <a:ext cx="1207008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523744"/>
            <a:ext cx="12070080" cy="4718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9184" y="7569206"/>
            <a:ext cx="3291840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903A0B-FDF9-48DA-A652-0A058F4AB10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7952" y="7569206"/>
            <a:ext cx="6254496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63856" y="7569206"/>
            <a:ext cx="1755648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35FE553-E6A4-42B1-9942-B9D99345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4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lang="en-US" sz="576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219456" indent="-219456" algn="l" defTabSz="1097280" rtl="0" eaLnBrk="1" latinLnBrk="0" hangingPunct="1">
        <a:lnSpc>
          <a:spcPct val="100000"/>
        </a:lnSpc>
        <a:spcBef>
          <a:spcPts val="108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902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Environment and Strategic Tools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14801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Understanding the Dynamic World of Businesses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6221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Presented by: Rijul Chaturvedi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2401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Course: Essentials of Business Management 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85823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JK Laxmipat University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64762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665440"/>
            <a:ext cx="12952027" cy="70197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61584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endParaRPr lang="en-US" sz="3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2881"/>
            <a:ext cx="110697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Environment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052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environment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encompasses all external and internal factors that influence a business's operations, decisions, and performance. Understanding these elements is crucial for effective management and strategic planning.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86244"/>
            <a:ext cx="6407944" cy="2819519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3790" y="328624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1173004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Internal Environment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3004" y="4033957"/>
            <a:ext cx="57714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Factors within the organization's control, such as organizational culture, resources (financial, human, physical), and internal processes. These shape a company's capabilities and competitive advantages.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3286244"/>
            <a:ext cx="6408063" cy="2819519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28548" y="328624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7807762" y="3543538"/>
            <a:ext cx="2910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External Environment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07762" y="4033957"/>
            <a:ext cx="577155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Factors outside the organization's direct control, divided into micro (customers, competitors, suppliers) and macro (economic, social, political, technological, legal, ecological) environments. These present opportunities and threats.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63609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For managers, this understanding isn't academic; it's essential for anticipating changes, mitigating risks, and capitalizing on emerging trends to sustain growth and competitiveness.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343"/>
            <a:ext cx="130428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Dimensions of the Business Environment: PESTLE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19482"/>
            <a:ext cx="130428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external macro-environment can be systematically analyzed using the PESTLE framework, which categorizes various influences. Each dimension plays a significant role in shaping strategic decisions.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86162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Political: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Government policies, trade regulations, taxation. </a:t>
            </a:r>
            <a:r>
              <a:rPr lang="en-US" sz="1600" dirty="0">
                <a:solidFill>
                  <a:srgbClr val="0540AD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Recent tariffs on imported goods impacting manufacturing costs.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637722"/>
            <a:ext cx="627245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Economic: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Inflation rates, interest rates, consumer spending power. </a:t>
            </a:r>
            <a:r>
              <a:rPr lang="en-US" sz="1600" dirty="0">
                <a:solidFill>
                  <a:srgbClr val="0540AD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Rising interest rates increasing borrowing costs for business expansion.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6015990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Social: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Demographics, cultural trends, lifestyle changes. </a:t>
            </a:r>
            <a:r>
              <a:rPr lang="en-US" sz="1600" dirty="0">
                <a:solidFill>
                  <a:srgbClr val="0540AD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Growing consumer preference for sustainable products driving new market segments.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71780" y="3586162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Technological: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Innovation, R&amp;D, automation, digital disruption. </a:t>
            </a:r>
            <a:r>
              <a:rPr lang="en-US" sz="1600" dirty="0">
                <a:solidFill>
                  <a:srgbClr val="0540AD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Advances in AI revolutionizing customer service operations.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71780" y="4637722"/>
            <a:ext cx="627245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Legal: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Employment laws, health and safety regulations, consumer protection. </a:t>
            </a:r>
            <a:r>
              <a:rPr lang="en-US" sz="1600" dirty="0">
                <a:solidFill>
                  <a:srgbClr val="0540AD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New data privacy laws (e.g., GDPR) requiring significant compliance efforts.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71780" y="6015990"/>
            <a:ext cx="627245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Ecological: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Environmental protection, resource scarcity, climate change. </a:t>
            </a:r>
            <a:r>
              <a:rPr lang="en-US" sz="1600" dirty="0">
                <a:solidFill>
                  <a:srgbClr val="0540AD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Increased regulations on carbon emissions impacting logistics and supply chains.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8CC0-DF36-4D59-B17B-18B6BF8E7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Product Life Cycle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Expectation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uncertainty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impact </a:t>
            </a:r>
          </a:p>
        </p:txBody>
      </p:sp>
      <p:pic>
        <p:nvPicPr>
          <p:cNvPr id="1026" name="Picture 2" descr="What is a Product Life Cycle? (Definition, Stages and Examples) - TWI">
            <a:extLst>
              <a:ext uri="{FF2B5EF4-FFF2-40B4-BE49-F238E27FC236}">
                <a16:creationId xmlns:a16="http://schemas.microsoft.com/office/drawing/2014/main" id="{39B36E91-2804-4074-BFA7-9982A3E0E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544" y="1067080"/>
            <a:ext cx="6603550" cy="504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53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676-22A8-4276-8339-A45C5643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way out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5F13C-74E2-4A46-AB8A-2DCF93EDF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CCCA90-CAC8-4EF3-A56E-FAB222A15EB8}"/>
              </a:ext>
            </a:extLst>
          </p:cNvPr>
          <p:cNvCxnSpPr/>
          <p:nvPr/>
        </p:nvCxnSpPr>
        <p:spPr>
          <a:xfrm>
            <a:off x="3724713" y="3976381"/>
            <a:ext cx="43790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A36883-E20A-497C-B525-A8AC328406B2}"/>
              </a:ext>
            </a:extLst>
          </p:cNvPr>
          <p:cNvCxnSpPr/>
          <p:nvPr/>
        </p:nvCxnSpPr>
        <p:spPr>
          <a:xfrm>
            <a:off x="3724713" y="5991416"/>
            <a:ext cx="43790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9942DE0-1C09-4697-BBFE-B34A4C62C7ED}"/>
              </a:ext>
            </a:extLst>
          </p:cNvPr>
          <p:cNvSpPr/>
          <p:nvPr/>
        </p:nvSpPr>
        <p:spPr>
          <a:xfrm>
            <a:off x="4666795" y="3350564"/>
            <a:ext cx="2648405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0" dirty="0"/>
              <a:t>Cost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734D4-CED5-4359-BF97-826E98790316}"/>
              </a:ext>
            </a:extLst>
          </p:cNvPr>
          <p:cNvSpPr/>
          <p:nvPr/>
        </p:nvSpPr>
        <p:spPr>
          <a:xfrm>
            <a:off x="4779208" y="6153343"/>
            <a:ext cx="2648405" cy="463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0" dirty="0"/>
              <a:t>Quality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02AF52-8262-49A0-B024-FE4EEC56365B}"/>
              </a:ext>
            </a:extLst>
          </p:cNvPr>
          <p:cNvSpPr/>
          <p:nvPr/>
        </p:nvSpPr>
        <p:spPr>
          <a:xfrm>
            <a:off x="8506437" y="3582093"/>
            <a:ext cx="2879102" cy="686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0" dirty="0"/>
              <a:t>China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3A59EF-3BAD-4155-8082-553E3C83D411}"/>
              </a:ext>
            </a:extLst>
          </p:cNvPr>
          <p:cNvSpPr/>
          <p:nvPr/>
        </p:nvSpPr>
        <p:spPr>
          <a:xfrm>
            <a:off x="8506437" y="5641197"/>
            <a:ext cx="2879102" cy="686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0" dirty="0"/>
              <a:t>Japan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9368D5-81A7-44A9-8856-AC02AFC67968}"/>
              </a:ext>
            </a:extLst>
          </p:cNvPr>
          <p:cNvCxnSpPr/>
          <p:nvPr/>
        </p:nvCxnSpPr>
        <p:spPr>
          <a:xfrm>
            <a:off x="3644178" y="4962926"/>
            <a:ext cx="91305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EBAE210-CFE5-43FB-9A3A-FFD9B35A10D9}"/>
              </a:ext>
            </a:extLst>
          </p:cNvPr>
          <p:cNvSpPr/>
          <p:nvPr/>
        </p:nvSpPr>
        <p:spPr>
          <a:xfrm>
            <a:off x="12894718" y="3991482"/>
            <a:ext cx="1459685" cy="1520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60" dirty="0"/>
              <a:t>Cost-effective Product Quality</a:t>
            </a:r>
          </a:p>
        </p:txBody>
      </p:sp>
      <p:pic>
        <p:nvPicPr>
          <p:cNvPr id="14" name="Graphic 13" descr="A lightbulb">
            <a:extLst>
              <a:ext uri="{FF2B5EF4-FFF2-40B4-BE49-F238E27FC236}">
                <a16:creationId xmlns:a16="http://schemas.microsoft.com/office/drawing/2014/main" id="{83BF39B1-4594-4E17-A31D-9DB5B6E95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4734" y="3813625"/>
            <a:ext cx="2099998" cy="20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0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131F-792D-4FB8-8CD7-02AC1AA3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creativity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142E6-45F3-41F4-B17C-485D989CA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08227"/>
            <a:ext cx="12618720" cy="522160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is the specific tool of entrepreneurs by which they exploit change as an opportunity for a different business or a different service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Peter F Drucker </a:t>
            </a:r>
          </a:p>
        </p:txBody>
      </p:sp>
      <p:pic>
        <p:nvPicPr>
          <p:cNvPr id="5" name="Graphic 4" descr="Brain with solid fill">
            <a:extLst>
              <a:ext uri="{FF2B5EF4-FFF2-40B4-BE49-F238E27FC236}">
                <a16:creationId xmlns:a16="http://schemas.microsoft.com/office/drawing/2014/main" id="{61793A30-97D3-4B7C-9E92-89D26B12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6845" y="101464"/>
            <a:ext cx="1770077" cy="1770077"/>
          </a:xfrm>
          <a:prstGeom prst="rect">
            <a:avLst/>
          </a:prstGeom>
        </p:spPr>
      </p:pic>
      <p:pic>
        <p:nvPicPr>
          <p:cNvPr id="8" name="Graphic 7" descr="Atom with solid fill">
            <a:extLst>
              <a:ext uri="{FF2B5EF4-FFF2-40B4-BE49-F238E27FC236}">
                <a16:creationId xmlns:a16="http://schemas.microsoft.com/office/drawing/2014/main" id="{B3F5D4D6-9C1E-4AC6-BE8C-3C5AF78DD0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6791" y="4326203"/>
            <a:ext cx="1097280" cy="109728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D808D1-F431-4695-B91C-42E9A0C9A9FE}"/>
              </a:ext>
            </a:extLst>
          </p:cNvPr>
          <p:cNvCxnSpPr>
            <a:cxnSpLocks/>
          </p:cNvCxnSpPr>
          <p:nvPr/>
        </p:nvCxnSpPr>
        <p:spPr>
          <a:xfrm>
            <a:off x="4974672" y="4902527"/>
            <a:ext cx="1347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42F973-7C5F-4014-A887-89FBB5524D83}"/>
              </a:ext>
            </a:extLst>
          </p:cNvPr>
          <p:cNvSpPr txBox="1"/>
          <p:nvPr/>
        </p:nvSpPr>
        <p:spPr>
          <a:xfrm>
            <a:off x="6441907" y="4333753"/>
            <a:ext cx="244623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India</a:t>
            </a:r>
          </a:p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Demonetization</a:t>
            </a:r>
          </a:p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Corruption  </a:t>
            </a:r>
          </a:p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5D7B7D-92C1-4787-9867-79E26FC7ED09}"/>
              </a:ext>
            </a:extLst>
          </p:cNvPr>
          <p:cNvSpPr txBox="1"/>
          <p:nvPr/>
        </p:nvSpPr>
        <p:spPr>
          <a:xfrm>
            <a:off x="6092085" y="5774148"/>
            <a:ext cx="244623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challenges </a:t>
            </a: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F7518C23-EBF8-48FE-B4FC-728DD9E4C559}"/>
              </a:ext>
            </a:extLst>
          </p:cNvPr>
          <p:cNvSpPr/>
          <p:nvPr/>
        </p:nvSpPr>
        <p:spPr>
          <a:xfrm>
            <a:off x="5233893" y="4605559"/>
            <a:ext cx="703837" cy="593936"/>
          </a:xfrm>
          <a:prstGeom prst="plus">
            <a:avLst>
              <a:gd name="adj" fmla="val 345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5230AB-8B94-4102-88FE-071796231893}"/>
              </a:ext>
            </a:extLst>
          </p:cNvPr>
          <p:cNvSpPr txBox="1"/>
          <p:nvPr/>
        </p:nvSpPr>
        <p:spPr>
          <a:xfrm>
            <a:off x="3514150" y="5579211"/>
            <a:ext cx="1719743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</a:p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Force</a:t>
            </a:r>
          </a:p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12298-58C2-487F-B42F-8CB8A3CED32E}"/>
              </a:ext>
            </a:extLst>
          </p:cNvPr>
          <p:cNvCxnSpPr/>
          <p:nvPr/>
        </p:nvCxnSpPr>
        <p:spPr>
          <a:xfrm flipV="1">
            <a:off x="8758107" y="4784340"/>
            <a:ext cx="1127480" cy="9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44307F-717A-4CFB-A7F7-D9CAA8E7D853}"/>
              </a:ext>
            </a:extLst>
          </p:cNvPr>
          <p:cNvCxnSpPr/>
          <p:nvPr/>
        </p:nvCxnSpPr>
        <p:spPr>
          <a:xfrm flipV="1">
            <a:off x="8758106" y="5084538"/>
            <a:ext cx="1127480" cy="9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Bank with solid fill">
            <a:extLst>
              <a:ext uri="{FF2B5EF4-FFF2-40B4-BE49-F238E27FC236}">
                <a16:creationId xmlns:a16="http://schemas.microsoft.com/office/drawing/2014/main" id="{F7E32677-5BC3-444E-AAEE-DAD6EE41B4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76516" y="4235700"/>
            <a:ext cx="1097280" cy="10972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F1E15F2-040A-4746-B027-E0DB75624EB3}"/>
              </a:ext>
            </a:extLst>
          </p:cNvPr>
          <p:cNvSpPr txBox="1"/>
          <p:nvPr/>
        </p:nvSpPr>
        <p:spPr>
          <a:xfrm>
            <a:off x="9883908" y="5350597"/>
            <a:ext cx="204523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a business through innovation.</a:t>
            </a:r>
          </a:p>
        </p:txBody>
      </p:sp>
    </p:spTree>
    <p:extLst>
      <p:ext uri="{BB962C8B-B14F-4D97-AF65-F5344CB8AC3E}">
        <p14:creationId xmlns:p14="http://schemas.microsoft.com/office/powerpoint/2010/main" val="6495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 animBg="1"/>
      <p:bldP spid="19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0626-6AC1-41B4-8008-7BC38D08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Is of Innovation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4B359-DAB7-44E9-B31C-44E167096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46A37-EB05-4029-A016-B57EBCC374D0}"/>
              </a:ext>
            </a:extLst>
          </p:cNvPr>
          <p:cNvSpPr txBox="1"/>
          <p:nvPr/>
        </p:nvSpPr>
        <p:spPr>
          <a:xfrm>
            <a:off x="563741" y="4288452"/>
            <a:ext cx="13318361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of the idea can be done in a novel fashion.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between Innovation and Invention? </a:t>
            </a:r>
          </a:p>
        </p:txBody>
      </p:sp>
      <p:pic>
        <p:nvPicPr>
          <p:cNvPr id="6" name="Graphic 5" descr="Child with balloon with solid fill">
            <a:extLst>
              <a:ext uri="{FF2B5EF4-FFF2-40B4-BE49-F238E27FC236}">
                <a16:creationId xmlns:a16="http://schemas.microsoft.com/office/drawing/2014/main" id="{29870EBB-0FFC-4078-AF66-8873FD3A3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651" y="3175223"/>
            <a:ext cx="2890008" cy="28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7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5143-6018-437E-88FC-EC0C76C6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97E62-C7DA-4DAC-AD53-2778DD3C2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Change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confidence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Inertia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failure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 the idea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Disability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732DA-552D-4F5A-B395-51EA1D9EE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987" y="1424755"/>
            <a:ext cx="5501311" cy="5621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79124D-D443-4907-80CE-021583B4223A}"/>
              </a:ext>
            </a:extLst>
          </p:cNvPr>
          <p:cNvSpPr txBox="1"/>
          <p:nvPr/>
        </p:nvSpPr>
        <p:spPr>
          <a:xfrm>
            <a:off x="332205" y="5535796"/>
            <a:ext cx="187242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can not do it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771AF-A6DA-441A-99A5-9B7FF7F4CA2D}"/>
              </a:ext>
            </a:extLst>
          </p:cNvPr>
          <p:cNvSpPr txBox="1"/>
          <p:nvPr/>
        </p:nvSpPr>
        <p:spPr>
          <a:xfrm>
            <a:off x="5952748" y="5535796"/>
            <a:ext cx="187242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can do it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E411FD-AFA8-40EB-ABFB-F25FBCA994FA}"/>
              </a:ext>
            </a:extLst>
          </p:cNvPr>
          <p:cNvCxnSpPr>
            <a:stCxn id="6" idx="3"/>
          </p:cNvCxnSpPr>
          <p:nvPr/>
        </p:nvCxnSpPr>
        <p:spPr>
          <a:xfrm>
            <a:off x="2204627" y="5748162"/>
            <a:ext cx="3613978" cy="9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A14A98-0659-4A10-853F-9D29BDDE907E}"/>
              </a:ext>
            </a:extLst>
          </p:cNvPr>
          <p:cNvCxnSpPr/>
          <p:nvPr/>
        </p:nvCxnSpPr>
        <p:spPr>
          <a:xfrm flipV="1">
            <a:off x="1156842" y="5948794"/>
            <a:ext cx="0" cy="223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33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6388-8BD5-46F6-8DA9-4B74BFC5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829" y="263867"/>
            <a:ext cx="12070080" cy="16459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Disability (VUCA)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EE5F1-78F7-4AE5-9507-5E718EB31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94B94-CB1B-41EA-9AD6-0F44B3B4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443" y="1602153"/>
            <a:ext cx="8489117" cy="618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0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CFF2-70E1-4D12-A78F-48FE58D0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0E76D-04EB-4F86-A928-F5131B87F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8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unexpected or unstable and may be of unknown duration, but it’s not necessarily hard to understand; knowledge about it is often available.     </a:t>
            </a:r>
          </a:p>
        </p:txBody>
      </p:sp>
      <p:pic>
        <p:nvPicPr>
          <p:cNvPr id="1028" name="Picture 4" descr="Volatility Icons - Free SVG &amp; PNG ...">
            <a:extLst>
              <a:ext uri="{FF2B5EF4-FFF2-40B4-BE49-F238E27FC236}">
                <a16:creationId xmlns:a16="http://schemas.microsoft.com/office/drawing/2014/main" id="{B21E2291-6801-4707-9006-41D49FAF6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343" y="4444409"/>
            <a:ext cx="3785191" cy="378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42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F848-85E5-45BD-BBE9-B51F461D3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6692-C0C2-423A-B23E-9DBCC1397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39" y="2190750"/>
            <a:ext cx="6139240" cy="5221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a lack of other information, the event’s basic cause and effect are known. Change is possible but not a given thing. </a:t>
            </a:r>
          </a:p>
          <a:p>
            <a:pPr marL="0" indent="0">
              <a:buNone/>
            </a:pPr>
            <a:endParaRPr lang="en-US" sz="4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 a +by   </a:t>
            </a:r>
          </a:p>
        </p:txBody>
      </p:sp>
      <p:pic>
        <p:nvPicPr>
          <p:cNvPr id="2050" name="Picture 2" descr="Page 2 | Uncertainity Vectors &amp; Illustrations for Free Download | Freepik">
            <a:extLst>
              <a:ext uri="{FF2B5EF4-FFF2-40B4-BE49-F238E27FC236}">
                <a16:creationId xmlns:a16="http://schemas.microsoft.com/office/drawing/2014/main" id="{162323DD-3287-4CBD-832F-A57C8538C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079" y="537210"/>
            <a:ext cx="7155180" cy="715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62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6967-596D-4693-8601-5DFACE16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CA3A-91A7-4A18-A449-54811BD2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key decision factors that need to be focused on, simultaneously </a:t>
            </a:r>
          </a:p>
        </p:txBody>
      </p:sp>
      <p:pic>
        <p:nvPicPr>
          <p:cNvPr id="3078" name="Picture 6" descr="How reducing complexity helps us understand the world - simpleshow">
            <a:extLst>
              <a:ext uri="{FF2B5EF4-FFF2-40B4-BE49-F238E27FC236}">
                <a16:creationId xmlns:a16="http://schemas.microsoft.com/office/drawing/2014/main" id="{9D51F415-E557-4141-8B3D-B2FE5EB4B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223" y="3513131"/>
            <a:ext cx="6858000" cy="380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93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C3C1-92B9-4250-8EEA-A6EDB753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FABEF-92D1-45AB-A87C-FC2441DE1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-Causal relationships are completely unclear. No precedents exist; you face “unknown unknowns.”   </a:t>
            </a:r>
          </a:p>
        </p:txBody>
      </p:sp>
      <p:pic>
        <p:nvPicPr>
          <p:cNvPr id="4098" name="Picture 2" descr="Ambiguity Vs Uncertainty | PM Study Circle">
            <a:extLst>
              <a:ext uri="{FF2B5EF4-FFF2-40B4-BE49-F238E27FC236}">
                <a16:creationId xmlns:a16="http://schemas.microsoft.com/office/drawing/2014/main" id="{82F02B23-F15D-41AD-990B-F3840CD55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519" y="3384344"/>
            <a:ext cx="8105428" cy="453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78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C2B8-67CB-470C-A6BE-38BA215F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handle the challenges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DAED0-0DE7-4C97-A5CE-733EDF608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distinct systems of thinking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and Intuitive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Deliberations and Analysis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Driving Guide ...">
            <a:extLst>
              <a:ext uri="{FF2B5EF4-FFF2-40B4-BE49-F238E27FC236}">
                <a16:creationId xmlns:a16="http://schemas.microsoft.com/office/drawing/2014/main" id="{2A0E1156-C175-4C2E-8E75-9D17032EE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086" y="3962091"/>
            <a:ext cx="6086976" cy="40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49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F736-F2EE-4E19-82BE-2D78DBFE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9492D-14D4-4226-97B5-DF3901365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Elephant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Moving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See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Powerless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</a:t>
            </a:r>
          </a:p>
        </p:txBody>
      </p:sp>
      <p:pic>
        <p:nvPicPr>
          <p:cNvPr id="6146" name="Picture 2" descr="The Elephant and the Rider | downwithvowels">
            <a:extLst>
              <a:ext uri="{FF2B5EF4-FFF2-40B4-BE49-F238E27FC236}">
                <a16:creationId xmlns:a16="http://schemas.microsoft.com/office/drawing/2014/main" id="{24340A7C-4CAB-4AB4-925F-E412D0B3E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895" y="284815"/>
            <a:ext cx="9121961" cy="755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00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Three Roads Merging Royalty-Free Images, Stock Photos &amp; Pictures |  Shutterstock">
            <a:extLst>
              <a:ext uri="{FF2B5EF4-FFF2-40B4-BE49-F238E27FC236}">
                <a16:creationId xmlns:a16="http://schemas.microsoft.com/office/drawing/2014/main" id="{C5938D48-89F8-4066-B0DE-C04AADD03D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9"/>
          <a:stretch/>
        </p:blipFill>
        <p:spPr bwMode="auto">
          <a:xfrm rot="16200000">
            <a:off x="6549259" y="216902"/>
            <a:ext cx="4674870" cy="1006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Motivating Self and Others: Influence the Rider, Elephant, and Path | Kathy  Stoddard Torrey">
            <a:extLst>
              <a:ext uri="{FF2B5EF4-FFF2-40B4-BE49-F238E27FC236}">
                <a16:creationId xmlns:a16="http://schemas.microsoft.com/office/drawing/2014/main" id="{40CB4C9E-7D87-4C35-A3C3-9F14B93A7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4490" y="2175421"/>
            <a:ext cx="2934617" cy="346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704,194 Lush Green Grass Images, Stock Photos, and Vectors | Shutterstock">
            <a:extLst>
              <a:ext uri="{FF2B5EF4-FFF2-40B4-BE49-F238E27FC236}">
                <a16:creationId xmlns:a16="http://schemas.microsoft.com/office/drawing/2014/main" id="{7B0D5A4E-312F-46E8-84B4-AEDDCB05AF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/>
        </p:blipFill>
        <p:spPr bwMode="auto">
          <a:xfrm>
            <a:off x="7974448" y="1621466"/>
            <a:ext cx="2256760" cy="150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Tiger 3d Model Illustration, Tiger, Zoo ...">
            <a:extLst>
              <a:ext uri="{FF2B5EF4-FFF2-40B4-BE49-F238E27FC236}">
                <a16:creationId xmlns:a16="http://schemas.microsoft.com/office/drawing/2014/main" id="{D4AF2105-9FBA-4A6A-8148-6E514E0CC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4782" y="3125972"/>
            <a:ext cx="1826010" cy="182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the Environment and Local Ecosystems ...">
            <a:extLst>
              <a:ext uri="{FF2B5EF4-FFF2-40B4-BE49-F238E27FC236}">
                <a16:creationId xmlns:a16="http://schemas.microsoft.com/office/drawing/2014/main" id="{2B8F4247-65FC-4BEA-964A-370F008C4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1067" y="4141645"/>
            <a:ext cx="2960370" cy="221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 descr="Mountain Clip Art Images – Browse 94 ...">
            <a:extLst>
              <a:ext uri="{FF2B5EF4-FFF2-40B4-BE49-F238E27FC236}">
                <a16:creationId xmlns:a16="http://schemas.microsoft.com/office/drawing/2014/main" id="{BF114286-DE69-470A-93E7-3BE1DD1B3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870" y="6008564"/>
            <a:ext cx="2105218" cy="210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46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C33D-8930-40D8-B580-E0BA4FB1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deal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61647-535C-4FC5-8ABA-72887E698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useful resource on VUCA was written by Bob Johansen in 2009. His book, Leaders Make The Future, includes the specific skills, behaviors, and approaches needed to live and control a VUCA environment.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Johansen basically said that we need to: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Volatility with Vision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Uncertainty with Understanding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to Complexity with Clarity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Fight Ambiguity with Agility</a:t>
            </a:r>
          </a:p>
        </p:txBody>
      </p:sp>
      <p:pic>
        <p:nvPicPr>
          <p:cNvPr id="5122" name="Picture 2" descr="Where are the people with solutions? - Reputation Today">
            <a:extLst>
              <a:ext uri="{FF2B5EF4-FFF2-40B4-BE49-F238E27FC236}">
                <a16:creationId xmlns:a16="http://schemas.microsoft.com/office/drawing/2014/main" id="{A27B9CD3-96D2-45C5-834F-F87329E2C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811" y="4326256"/>
            <a:ext cx="485775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83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021" y="428982"/>
            <a:ext cx="896528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The VUCA Model: Navigating Modern Challenges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021" y="1228487"/>
            <a:ext cx="13538359" cy="49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Originally coined by the U.S. military to describe the post-Cold War world, VUCA has been widely adopted in business to characterize the increasingly unpredictable and complex global landscape. It highlights four key challenges managers face: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5" y="1428042"/>
            <a:ext cx="13538359" cy="67758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6976" y="4815966"/>
            <a:ext cx="2542633" cy="76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High Interdependence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96636" y="8102031"/>
            <a:ext cx="3043045" cy="38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Low Change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67266" y="5006156"/>
            <a:ext cx="2542634" cy="38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Low Clarity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89029" y="2181195"/>
            <a:ext cx="3043044" cy="38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High Change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39778" y="6443995"/>
            <a:ext cx="2610256" cy="91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Ambiguity — Vague signals, multiple interpretations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104" y="5776638"/>
            <a:ext cx="378690" cy="3786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23808" y="6457519"/>
            <a:ext cx="2610256" cy="91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Complexity — Many interdependent factors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592" y="5784668"/>
            <a:ext cx="378689" cy="3786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23808" y="4107612"/>
            <a:ext cx="2610256" cy="608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Uncertainty — Limited predictability or clarity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9592" y="3282609"/>
            <a:ext cx="378689" cy="3786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58630" y="4107612"/>
            <a:ext cx="2610256" cy="608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Volatility — Rapid, unexpected change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4413" y="3282609"/>
            <a:ext cx="378690" cy="3786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6021" y="8854440"/>
            <a:ext cx="1353835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Understanding these dimensions is the first step toward developing strategies that thrive, rather than just survive, in dynamic environments.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251"/>
            <a:ext cx="12705636" cy="645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Environment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↔</a:t>
            </a:r>
            <a:r>
              <a:rPr lang="en-US" sz="40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VUCA: A Dynamic Interplay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09073"/>
            <a:ext cx="130428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Changes in the broader business environment are often the catalysts that create or exacerbate VUCA conditions, forcing organizations to adapt rapidly.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92041"/>
            <a:ext cx="4211479" cy="3299341"/>
          </a:xfrm>
          <a:prstGeom prst="roundRect">
            <a:avLst>
              <a:gd name="adj" fmla="val 5569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997863" y="319611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17" y="3330059"/>
            <a:ext cx="275511" cy="34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7863" y="401252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AI Disruption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7863" y="4453771"/>
            <a:ext cx="380333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Rapid technological advancements create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volatility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uncertainty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as industries grapple with new competitive landscapes and business models.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209342" y="2992041"/>
            <a:ext cx="4211598" cy="3299341"/>
          </a:xfrm>
          <a:prstGeom prst="roundRect">
            <a:avLst>
              <a:gd name="adj" fmla="val 5569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5413415" y="319611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4C1F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769" y="3330059"/>
            <a:ext cx="275511" cy="344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4012525"/>
            <a:ext cx="380345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Global Pandemics (e.g., COVID-19)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413415" y="4772620"/>
            <a:ext cx="380345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These events introduce extreme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volatility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 supply chains,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uncertainty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 demand, and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complexity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 operations due to health regulations.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625013" y="2992041"/>
            <a:ext cx="4211598" cy="3299341"/>
          </a:xfrm>
          <a:prstGeom prst="roundRect">
            <a:avLst>
              <a:gd name="adj" fmla="val 5569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9829086" y="3196114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4C1F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7440" y="3330059"/>
            <a:ext cx="275511" cy="344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9086" y="401252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Regulatory Changes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829086" y="4453771"/>
            <a:ext cx="3803452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New laws or political shifts can introduce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ambiguity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regarding future compliance requirements and market access, increasing operational </a:t>
            </a:r>
            <a:r>
              <a:rPr lang="en-US" sz="160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complexity</a:t>
            </a: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93790" y="6520934"/>
            <a:ext cx="130428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To effectively navigate this interconnectedness, managers require analytical tools like SWOT and TOWS to translate environmental scanning into actionable strategies.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99714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SWOT Analysis: A Core Strategic Tool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367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SWOT Analysis is a fundamental strategic planning tool used to evaluate a company's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trengths,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eaknesses,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pportunities, and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hreats. It provides a structured way to assess both internal capabilities and external factors.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0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E2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Internal Focus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62569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Strengths: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Internal attributes and resources that help the company achieve its objectives (e.g., strong brand reputation, patented technology, skilled workforce).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91847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Weaknesses: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Internal limitations or disadvantages that hinder the company's performance (e.g., outdated technology, lack of capital, poor market research).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30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E2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External Focus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62569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Opportunities: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Favorable external factors that a company can exploit for its advantage (e.g., emerging markets, technological breakthroughs, competitor weaknesses).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91847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Threats: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Unfavorable external factors that could pose challenges or harm the company (e.g., new competitors, economic downturns, changing consumer preferences).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46640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Consider </a:t>
            </a: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Tesla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as an example: </a:t>
            </a:r>
            <a:r>
              <a:rPr lang="en-US" sz="1750" dirty="0">
                <a:solidFill>
                  <a:srgbClr val="84C1FA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Strengths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(innovative technology, strong brand); </a:t>
            </a:r>
            <a:r>
              <a:rPr lang="en-US" sz="1750" dirty="0">
                <a:solidFill>
                  <a:srgbClr val="92165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Weaknesses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(production challenges, high price points); </a:t>
            </a:r>
            <a:r>
              <a:rPr lang="en-US" sz="1750" dirty="0">
                <a:solidFill>
                  <a:srgbClr val="FF5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Opportunities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(global push for EVs, battery tech advancements); </a:t>
            </a:r>
            <a:r>
              <a:rPr lang="en-US" sz="1750" dirty="0">
                <a:solidFill>
                  <a:srgbClr val="1A561C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Threats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(increased competition, raw material price volatility).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043"/>
            <a:ext cx="9529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Your Turn: SWOT Analysis Template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8345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Let's practice! For a hypothetical small independent coffee shop opening in a bustling city center, what might some of its SWOT factors be?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864406"/>
            <a:ext cx="13042821" cy="4025979"/>
          </a:xfrm>
          <a:prstGeom prst="roundRect">
            <a:avLst>
              <a:gd name="adj" fmla="val 50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872026"/>
            <a:ext cx="13027581" cy="20053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355175" y="301573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84C1FA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Strengths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8224" y="357711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Unique  sourcing relationships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224" y="400800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Experienced team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8224" y="443888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...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72776" y="301573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FF5000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Opportunities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45824" y="357711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Growth in local remote workforce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45824" y="400800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Partnerships with local bakeries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45824" y="443888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...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1410" y="4877395"/>
            <a:ext cx="13027581" cy="20053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355175" y="50211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9216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Weaknesses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28224" y="558248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Limited marketing budget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8224" y="601337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Small seating capacity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8224" y="64442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...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72776" y="502110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1A561C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Threats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5824" y="558248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Increased competition from chains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45824" y="601337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Rising cost of premium coffee beans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45824" y="64442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...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3790" y="71455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Think about how internal capabilities meet external possibilities, and vice-versa.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The TOWS Matrix And How To Use It - FourWeekMBA">
            <a:extLst>
              <a:ext uri="{FF2B5EF4-FFF2-40B4-BE49-F238E27FC236}">
                <a16:creationId xmlns:a16="http://schemas.microsoft.com/office/drawing/2014/main" id="{DD2E9AA9-23F4-431C-8E9F-3F30D0C58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19"/>
          <a:stretch/>
        </p:blipFill>
        <p:spPr bwMode="auto">
          <a:xfrm>
            <a:off x="651465" y="666262"/>
            <a:ext cx="13327470" cy="689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874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6402"/>
            <a:ext cx="708588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TOWS Matrix: From Analysis to Action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50075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TOWS Matrix takes the SWOT analysis a step further by helping organizations develop strategies that align internal and external factors. It identifies four types of strategic approaches: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089" y="2236827"/>
            <a:ext cx="9129951" cy="456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91304" y="4329471"/>
            <a:ext cx="1714703" cy="25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Opportunities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91110" y="6417270"/>
            <a:ext cx="2052171" cy="256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Weaknesses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15273" y="4329471"/>
            <a:ext cx="1714703" cy="25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Threats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5980" y="2424373"/>
            <a:ext cx="2052170" cy="256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Strengths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08633" y="5299122"/>
            <a:ext cx="1760307" cy="61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WO: Improve weaknesses to exploit opportunities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511" y="4849069"/>
            <a:ext cx="255381" cy="25538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5634" y="5308243"/>
            <a:ext cx="1760306" cy="61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WT: </a:t>
            </a:r>
            <a:r>
              <a:rPr lang="en-US" sz="105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Minimise</a:t>
            </a: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weaknesses to avoid opportunities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8096" y="4854485"/>
            <a:ext cx="255382" cy="2553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25634" y="3723511"/>
            <a:ext cx="1760306" cy="410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ST: Use strengths to mitigate threats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096" y="3167144"/>
            <a:ext cx="255382" cy="2553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3909" y="3723511"/>
            <a:ext cx="1760307" cy="410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SO: Use strengths to seize opportunities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6371" y="3167144"/>
            <a:ext cx="255382" cy="25538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6984921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By systematically exploring these intersections, the TOWS Matrix helps managers formulate proactive strategies to leverage advantages, overcome limitations, and mitigate risks, turning analysis into concrete action plans.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828"/>
            <a:ext cx="14630400" cy="28282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76387"/>
            <a:ext cx="1048202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Mini Case Study: "ByteBite" Food Delivery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72940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Background:</a:t>
            </a: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ByteBite is a well-established local food delivery startup, known for its extensive restaurant network and reliable service. They operate primarily through their mobile app and website, offering a commission-based model to restaurants.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404961"/>
            <a:ext cx="130428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The Challenge:</a:t>
            </a: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Recently, major tech companies have entered the food delivery market with large investment, offering drone delivery in select areas and AI-</a:t>
            </a:r>
            <a:r>
              <a:rPr lang="en-US" sz="1650" dirty="0" err="1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powaered</a:t>
            </a: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personalized meal recommendations. Simultaneously, local restaurants are pushing back on high commission rates, and a new privacy regulation is limiting data collection for marketing.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68178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Identify:</a:t>
            </a: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What are 2-3 key Strengths, Weaknesses, Opportunities, and Threats for ByteBite?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7101959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Formulate:</a:t>
            </a:r>
            <a:r>
              <a:rPr lang="en-US" sz="16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Propose at least one SO, ST, WO, and WT strategy for ByteBite to address these challenges and opportunities.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5580459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Conclusion &amp; Discussion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46232" y="1511141"/>
            <a:ext cx="253781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84C1FA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The Strategic Journey: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1647" y="2099905"/>
            <a:ext cx="192167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1647" y="2403634"/>
            <a:ext cx="6427470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791647" y="2545437"/>
            <a:ext cx="350912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Environment Analysis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1647" y="2961084"/>
            <a:ext cx="6427470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Understanding the macro (PESTLE) and micro factors.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11283" y="2099905"/>
            <a:ext cx="192167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11283" y="2403634"/>
            <a:ext cx="6427470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7411283" y="2545437"/>
            <a:ext cx="343042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Recognizing VUCA Conditions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11283" y="2961084"/>
            <a:ext cx="642747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Identifying the volatility, uncertainty, complexity, and ambiguity created by environmental shifts.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1647" y="3912751"/>
            <a:ext cx="192167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1647" y="4216479"/>
            <a:ext cx="6427470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791647" y="4358283"/>
            <a:ext cx="240327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SWOT Analysis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1647" y="4773930"/>
            <a:ext cx="642747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Systematic assessment of internal strengths/weaknesses and external opportunities/threats.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11283" y="3912751"/>
            <a:ext cx="192167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11283" y="4216479"/>
            <a:ext cx="6427470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7411283" y="4358283"/>
            <a:ext cx="309086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TOWS Matrix Development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11283" y="4773930"/>
            <a:ext cx="6427470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Translating analysis into actionable strategies (SO, ST, WO, WT).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1647" y="5749647"/>
            <a:ext cx="13047107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Ultimately, managers convert raw environmental data into strategic intelligence, enabling them to make informed decisions and transform challenges into competitive advantages.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1647" y="6653332"/>
            <a:ext cx="2883932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Q&amp;A / Reflection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1647" y="7302103"/>
            <a:ext cx="13047107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What are the key takeaways you will apply in your future business thinking?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orter's Five Forces EXPLAINED with EXAMPLES | B2U">
            <a:extLst>
              <a:ext uri="{FF2B5EF4-FFF2-40B4-BE49-F238E27FC236}">
                <a16:creationId xmlns:a16="http://schemas.microsoft.com/office/drawing/2014/main" id="{E4817EEF-32CA-4966-9302-758BD33B3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471488"/>
            <a:ext cx="12963525" cy="72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6561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6239</TotalTime>
  <Words>1549</Words>
  <Application>Microsoft Office PowerPoint</Application>
  <PresentationFormat>Custom</PresentationFormat>
  <Paragraphs>186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Garamond</vt:lpstr>
      <vt:lpstr>Arial</vt:lpstr>
      <vt:lpstr>Times New Roman</vt:lpstr>
      <vt:lpstr>Century Gothic</vt:lpstr>
      <vt:lpstr>Calibri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way out ?</vt:lpstr>
      <vt:lpstr>Innovation and creativity </vt:lpstr>
      <vt:lpstr>3 Is of Innovation </vt:lpstr>
      <vt:lpstr>Challenges </vt:lpstr>
      <vt:lpstr>Prediction Disability (VUCA)</vt:lpstr>
      <vt:lpstr>Volatility </vt:lpstr>
      <vt:lpstr>Uncertainty</vt:lpstr>
      <vt:lpstr>Complexity </vt:lpstr>
      <vt:lpstr>Ambiguity </vt:lpstr>
      <vt:lpstr>How to handle the challenges ?</vt:lpstr>
      <vt:lpstr>Analogy </vt:lpstr>
      <vt:lpstr>PowerPoint Presentation</vt:lpstr>
      <vt:lpstr>How to deal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Rijul Chaturvedi</cp:lastModifiedBy>
  <cp:revision>7</cp:revision>
  <dcterms:created xsi:type="dcterms:W3CDTF">2025-09-05T08:20:13Z</dcterms:created>
  <dcterms:modified xsi:type="dcterms:W3CDTF">2025-11-06T03:48:28Z</dcterms:modified>
</cp:coreProperties>
</file>